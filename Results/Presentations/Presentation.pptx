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441" r:id="rId3"/>
    <p:sldId id="390" r:id="rId4"/>
    <p:sldId id="442" r:id="rId5"/>
    <p:sldId id="443" r:id="rId6"/>
    <p:sldId id="450" r:id="rId7"/>
    <p:sldId id="444" r:id="rId8"/>
    <p:sldId id="445" r:id="rId9"/>
    <p:sldId id="451" r:id="rId10"/>
    <p:sldId id="454" r:id="rId11"/>
    <p:sldId id="446" r:id="rId12"/>
    <p:sldId id="447" r:id="rId13"/>
    <p:sldId id="396" r:id="rId14"/>
    <p:sldId id="453" r:id="rId15"/>
    <p:sldId id="448" r:id="rId16"/>
    <p:sldId id="449" r:id="rId17"/>
    <p:sldId id="440" r:id="rId18"/>
    <p:sldId id="389" r:id="rId19"/>
    <p:sldId id="433" r:id="rId20"/>
    <p:sldId id="398" r:id="rId21"/>
    <p:sldId id="452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0" y="39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Mappe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man\Documents\Bachelor%20thesis\statistic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man\Documents\Bachelor%20thesis\statistic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Mappe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326137357830272"/>
          <c:y val="5.0925925925925923E-2"/>
          <c:w val="0.72718307086614176"/>
          <c:h val="0.7855402449693788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xVal>
            <c:numRef>
              <c:f>Tabelle1!$B$2:$B$26</c:f>
              <c:numCache>
                <c:formatCode>General</c:formatCode>
                <c:ptCount val="2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110</c:v>
                </c:pt>
                <c:pt idx="11">
                  <c:v>120</c:v>
                </c:pt>
                <c:pt idx="12">
                  <c:v>130</c:v>
                </c:pt>
                <c:pt idx="13">
                  <c:v>140</c:v>
                </c:pt>
                <c:pt idx="14">
                  <c:v>150</c:v>
                </c:pt>
                <c:pt idx="15">
                  <c:v>160</c:v>
                </c:pt>
                <c:pt idx="16">
                  <c:v>170</c:v>
                </c:pt>
                <c:pt idx="17">
                  <c:v>180</c:v>
                </c:pt>
                <c:pt idx="18">
                  <c:v>190</c:v>
                </c:pt>
                <c:pt idx="19">
                  <c:v>200</c:v>
                </c:pt>
                <c:pt idx="20">
                  <c:v>210</c:v>
                </c:pt>
                <c:pt idx="21">
                  <c:v>220</c:v>
                </c:pt>
                <c:pt idx="22">
                  <c:v>230</c:v>
                </c:pt>
                <c:pt idx="23">
                  <c:v>240</c:v>
                </c:pt>
                <c:pt idx="24">
                  <c:v>250</c:v>
                </c:pt>
              </c:numCache>
            </c:numRef>
          </c:xVal>
          <c:yVal>
            <c:numRef>
              <c:f>Tabelle1!$C$2:$C$26</c:f>
              <c:numCache>
                <c:formatCode>0.00</c:formatCode>
                <c:ptCount val="25"/>
                <c:pt idx="0">
                  <c:v>14.28</c:v>
                </c:pt>
                <c:pt idx="1">
                  <c:v>29.78</c:v>
                </c:pt>
                <c:pt idx="2">
                  <c:v>55.95</c:v>
                </c:pt>
                <c:pt idx="3">
                  <c:v>76.739999999999995</c:v>
                </c:pt>
                <c:pt idx="4">
                  <c:v>82.2</c:v>
                </c:pt>
                <c:pt idx="5">
                  <c:v>86.65</c:v>
                </c:pt>
                <c:pt idx="6">
                  <c:v>89.28</c:v>
                </c:pt>
                <c:pt idx="7">
                  <c:v>89.94</c:v>
                </c:pt>
                <c:pt idx="8">
                  <c:v>90.41</c:v>
                </c:pt>
                <c:pt idx="9">
                  <c:v>90.53</c:v>
                </c:pt>
                <c:pt idx="10">
                  <c:v>91.04</c:v>
                </c:pt>
                <c:pt idx="11">
                  <c:v>91.26</c:v>
                </c:pt>
                <c:pt idx="12">
                  <c:v>91.71</c:v>
                </c:pt>
                <c:pt idx="13">
                  <c:v>91.69</c:v>
                </c:pt>
                <c:pt idx="14">
                  <c:v>91.79</c:v>
                </c:pt>
                <c:pt idx="15">
                  <c:v>92.13</c:v>
                </c:pt>
                <c:pt idx="16">
                  <c:v>92.13</c:v>
                </c:pt>
                <c:pt idx="17">
                  <c:v>91.95</c:v>
                </c:pt>
                <c:pt idx="18">
                  <c:v>92.1</c:v>
                </c:pt>
                <c:pt idx="19">
                  <c:v>92.21</c:v>
                </c:pt>
                <c:pt idx="20">
                  <c:v>92.27</c:v>
                </c:pt>
                <c:pt idx="21">
                  <c:v>92.07</c:v>
                </c:pt>
                <c:pt idx="22">
                  <c:v>92.13</c:v>
                </c:pt>
                <c:pt idx="23">
                  <c:v>92.6</c:v>
                </c:pt>
                <c:pt idx="24">
                  <c:v>92.15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63E-4134-9EAE-DA07D0D7F1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473871"/>
        <c:axId val="18459471"/>
      </c:scatterChart>
      <c:scatterChart>
        <c:scatterStyle val="smoothMarker"/>
        <c:varyColors val="0"/>
        <c:ser>
          <c:idx val="1"/>
          <c:order val="1"/>
          <c:tx>
            <c:v>linear programming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Tabelle1!$B$2:$B$26</c:f>
              <c:numCache>
                <c:formatCode>General</c:formatCode>
                <c:ptCount val="2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110</c:v>
                </c:pt>
                <c:pt idx="11">
                  <c:v>120</c:v>
                </c:pt>
                <c:pt idx="12">
                  <c:v>130</c:v>
                </c:pt>
                <c:pt idx="13">
                  <c:v>140</c:v>
                </c:pt>
                <c:pt idx="14">
                  <c:v>150</c:v>
                </c:pt>
                <c:pt idx="15">
                  <c:v>160</c:v>
                </c:pt>
                <c:pt idx="16">
                  <c:v>170</c:v>
                </c:pt>
                <c:pt idx="17">
                  <c:v>180</c:v>
                </c:pt>
                <c:pt idx="18">
                  <c:v>190</c:v>
                </c:pt>
                <c:pt idx="19">
                  <c:v>200</c:v>
                </c:pt>
                <c:pt idx="20">
                  <c:v>210</c:v>
                </c:pt>
                <c:pt idx="21">
                  <c:v>220</c:v>
                </c:pt>
                <c:pt idx="22">
                  <c:v>230</c:v>
                </c:pt>
                <c:pt idx="23">
                  <c:v>240</c:v>
                </c:pt>
                <c:pt idx="24">
                  <c:v>250</c:v>
                </c:pt>
              </c:numCache>
            </c:numRef>
          </c:xVal>
          <c:yVal>
            <c:numRef>
              <c:f>Tabelle1!$D$2:$D$26</c:f>
              <c:numCache>
                <c:formatCode>General</c:formatCode>
                <c:ptCount val="25"/>
                <c:pt idx="0">
                  <c:v>96</c:v>
                </c:pt>
                <c:pt idx="1">
                  <c:v>96</c:v>
                </c:pt>
                <c:pt idx="2">
                  <c:v>96</c:v>
                </c:pt>
                <c:pt idx="3">
                  <c:v>96</c:v>
                </c:pt>
                <c:pt idx="4">
                  <c:v>96</c:v>
                </c:pt>
                <c:pt idx="5">
                  <c:v>96</c:v>
                </c:pt>
                <c:pt idx="6">
                  <c:v>96</c:v>
                </c:pt>
                <c:pt idx="7">
                  <c:v>96</c:v>
                </c:pt>
                <c:pt idx="8">
                  <c:v>96</c:v>
                </c:pt>
                <c:pt idx="9">
                  <c:v>96</c:v>
                </c:pt>
                <c:pt idx="10">
                  <c:v>96</c:v>
                </c:pt>
                <c:pt idx="11">
                  <c:v>96</c:v>
                </c:pt>
                <c:pt idx="12">
                  <c:v>96</c:v>
                </c:pt>
                <c:pt idx="13">
                  <c:v>96</c:v>
                </c:pt>
                <c:pt idx="14">
                  <c:v>96</c:v>
                </c:pt>
                <c:pt idx="15">
                  <c:v>96</c:v>
                </c:pt>
                <c:pt idx="16">
                  <c:v>96</c:v>
                </c:pt>
                <c:pt idx="17">
                  <c:v>96</c:v>
                </c:pt>
                <c:pt idx="18">
                  <c:v>96</c:v>
                </c:pt>
                <c:pt idx="19">
                  <c:v>96</c:v>
                </c:pt>
                <c:pt idx="20">
                  <c:v>96</c:v>
                </c:pt>
                <c:pt idx="21">
                  <c:v>96</c:v>
                </c:pt>
                <c:pt idx="22">
                  <c:v>96</c:v>
                </c:pt>
                <c:pt idx="23">
                  <c:v>96</c:v>
                </c:pt>
                <c:pt idx="24">
                  <c:v>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63E-4134-9EAE-DA07D0D7F1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473871"/>
        <c:axId val="18459471"/>
      </c:scatterChart>
      <c:valAx>
        <c:axId val="18473871"/>
        <c:scaling>
          <c:orientation val="minMax"/>
          <c:max val="2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sz="1600" dirty="0" err="1"/>
                  <a:t>Iterations</a:t>
                </a:r>
                <a:endParaRPr lang="de-DE" sz="1600" dirty="0"/>
              </a:p>
            </c:rich>
          </c:tx>
          <c:layout>
            <c:manualLayout>
              <c:xMode val="edge"/>
              <c:yMode val="edge"/>
              <c:x val="0.84245013123359569"/>
              <c:y val="0.8786803732866724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8459471"/>
        <c:crosses val="autoZero"/>
        <c:crossBetween val="midCat"/>
      </c:valAx>
      <c:valAx>
        <c:axId val="18459471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sz="1600" dirty="0"/>
                  <a:t>Quality</a:t>
                </a:r>
              </a:p>
            </c:rich>
          </c:tx>
          <c:layout>
            <c:manualLayout>
              <c:xMode val="edge"/>
              <c:yMode val="edge"/>
              <c:x val="2.2222222222222223E-2"/>
              <c:y val="4.0443642461359029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84738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dp+Tabelle1!$F$37</c:v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cat>
            <c:numRef>
              <c:f>Tabelle1!$E$37:$E$44</c:f>
              <c:numCache>
                <c:formatCode>General</c:formatCode>
                <c:ptCount val="8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  <c:pt idx="6">
                  <c:v>80</c:v>
                </c:pt>
                <c:pt idx="7">
                  <c:v>90</c:v>
                </c:pt>
              </c:numCache>
            </c:numRef>
          </c:cat>
          <c:val>
            <c:numRef>
              <c:f>Tabelle1!$F$37:$F$44</c:f>
              <c:numCache>
                <c:formatCode>General</c:formatCode>
                <c:ptCount val="8"/>
                <c:pt idx="0">
                  <c:v>0.94</c:v>
                </c:pt>
                <c:pt idx="1">
                  <c:v>0.86</c:v>
                </c:pt>
                <c:pt idx="2">
                  <c:v>2.29</c:v>
                </c:pt>
                <c:pt idx="3">
                  <c:v>2.0499999999999998</c:v>
                </c:pt>
                <c:pt idx="4">
                  <c:v>6.77</c:v>
                </c:pt>
                <c:pt idx="5">
                  <c:v>7.37</c:v>
                </c:pt>
                <c:pt idx="6">
                  <c:v>12.12</c:v>
                </c:pt>
                <c:pt idx="7">
                  <c:v>32.82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FA-466D-95B8-B87C6B4A1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7132799"/>
        <c:axId val="637115999"/>
      </c:lineChart>
      <c:catAx>
        <c:axId val="6371327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sz="1600"/>
                  <a:t>Timeslots K</a:t>
                </a:r>
              </a:p>
            </c:rich>
          </c:tx>
          <c:layout>
            <c:manualLayout>
              <c:xMode val="edge"/>
              <c:yMode val="edge"/>
              <c:x val="0.76986842593185656"/>
              <c:y val="0.890189831481767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37115999"/>
        <c:crosses val="autoZero"/>
        <c:auto val="1"/>
        <c:lblAlgn val="ctr"/>
        <c:lblOffset val="100"/>
        <c:noMultiLvlLbl val="0"/>
      </c:catAx>
      <c:valAx>
        <c:axId val="63711599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sz="1600"/>
                  <a:t>Time in ms</a:t>
                </a:r>
              </a:p>
            </c:rich>
          </c:tx>
          <c:layout>
            <c:manualLayout>
              <c:xMode val="edge"/>
              <c:yMode val="edge"/>
              <c:x val="2.7777777777777776E-2"/>
              <c:y val="3.048993875765529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371327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cat>
            <c:numRef>
              <c:f>Tabelle1!$E$82:$E$99</c:f>
              <c:numCache>
                <c:formatCode>General</c:formatCode>
                <c:ptCount val="18"/>
                <c:pt idx="0">
                  <c:v>30</c:v>
                </c:pt>
                <c:pt idx="1">
                  <c:v>40</c:v>
                </c:pt>
                <c:pt idx="2">
                  <c:v>50</c:v>
                </c:pt>
                <c:pt idx="3">
                  <c:v>60</c:v>
                </c:pt>
                <c:pt idx="4">
                  <c:v>70</c:v>
                </c:pt>
                <c:pt idx="5">
                  <c:v>80</c:v>
                </c:pt>
                <c:pt idx="6">
                  <c:v>90</c:v>
                </c:pt>
                <c:pt idx="7">
                  <c:v>100</c:v>
                </c:pt>
                <c:pt idx="8">
                  <c:v>110</c:v>
                </c:pt>
                <c:pt idx="9">
                  <c:v>120</c:v>
                </c:pt>
                <c:pt idx="10">
                  <c:v>130</c:v>
                </c:pt>
                <c:pt idx="11">
                  <c:v>140</c:v>
                </c:pt>
                <c:pt idx="12">
                  <c:v>150</c:v>
                </c:pt>
                <c:pt idx="13">
                  <c:v>160</c:v>
                </c:pt>
                <c:pt idx="14">
                  <c:v>170</c:v>
                </c:pt>
                <c:pt idx="15">
                  <c:v>180</c:v>
                </c:pt>
                <c:pt idx="16">
                  <c:v>190</c:v>
                </c:pt>
              </c:numCache>
            </c:numRef>
          </c:cat>
          <c:val>
            <c:numRef>
              <c:f>Tabelle1!$F$82:$F$99</c:f>
              <c:numCache>
                <c:formatCode>General</c:formatCode>
                <c:ptCount val="18"/>
                <c:pt idx="0">
                  <c:v>0.35</c:v>
                </c:pt>
                <c:pt idx="1">
                  <c:v>0.25</c:v>
                </c:pt>
                <c:pt idx="2">
                  <c:v>0.36</c:v>
                </c:pt>
                <c:pt idx="3">
                  <c:v>0.1</c:v>
                </c:pt>
                <c:pt idx="4">
                  <c:v>0.17</c:v>
                </c:pt>
                <c:pt idx="5">
                  <c:v>0.16</c:v>
                </c:pt>
                <c:pt idx="6">
                  <c:v>0.14000000000000001</c:v>
                </c:pt>
                <c:pt idx="7">
                  <c:v>0.18</c:v>
                </c:pt>
                <c:pt idx="8">
                  <c:v>0.12</c:v>
                </c:pt>
                <c:pt idx="9">
                  <c:v>0.14000000000000001</c:v>
                </c:pt>
                <c:pt idx="10">
                  <c:v>0.13</c:v>
                </c:pt>
                <c:pt idx="11">
                  <c:v>0.12</c:v>
                </c:pt>
                <c:pt idx="12">
                  <c:v>0.13</c:v>
                </c:pt>
                <c:pt idx="13">
                  <c:v>0.13</c:v>
                </c:pt>
                <c:pt idx="14">
                  <c:v>0.12</c:v>
                </c:pt>
                <c:pt idx="15">
                  <c:v>0.14000000000000001</c:v>
                </c:pt>
                <c:pt idx="16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8B-4163-91D9-DC2F37F15A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466671"/>
        <c:axId val="18461391"/>
      </c:lineChart>
      <c:catAx>
        <c:axId val="18466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8461391"/>
        <c:crosses val="autoZero"/>
        <c:auto val="1"/>
        <c:lblAlgn val="ctr"/>
        <c:lblOffset val="100"/>
        <c:noMultiLvlLbl val="0"/>
      </c:catAx>
      <c:valAx>
        <c:axId val="184613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sz="1600"/>
                  <a:t>Time in ms</a:t>
                </a:r>
              </a:p>
            </c:rich>
          </c:tx>
          <c:layout>
            <c:manualLayout>
              <c:xMode val="edge"/>
              <c:yMode val="edge"/>
              <c:x val="2.2222222222222223E-2"/>
              <c:y val="3.048993875765529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84666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time taken in </a:t>
            </a:r>
            <a:r>
              <a:rPr lang="el-GR" sz="1400" b="0" i="0" u="none" strike="noStrike" baseline="0" dirty="0">
                <a:effectLst/>
              </a:rPr>
              <a:t>μ</a:t>
            </a:r>
            <a:r>
              <a:rPr lang="de-DE" sz="1400" b="0" i="0" u="none" strike="noStrike" baseline="0" dirty="0">
                <a:effectLst/>
              </a:rPr>
              <a:t>s</a:t>
            </a:r>
            <a:r>
              <a:rPr lang="en-US" dirty="0"/>
              <a:t> /</a:t>
            </a:r>
            <a:r>
              <a:rPr lang="en-US" baseline="0" dirty="0"/>
              <a:t> </a:t>
            </a:r>
            <a:r>
              <a:rPr lang="en-US" dirty="0"/>
              <a:t>iteration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5.8905838955585557E-2"/>
          <c:y val="0.10027777777777777"/>
          <c:w val="0.92413205747051552"/>
          <c:h val="0.82487489063867014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Tabelle1!$B$6:$B$105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cat>
          <c:val>
            <c:numRef>
              <c:f>Tabelle1!$C$6:$C$105</c:f>
              <c:numCache>
                <c:formatCode>General</c:formatCode>
                <c:ptCount val="100"/>
                <c:pt idx="0">
                  <c:v>94</c:v>
                </c:pt>
                <c:pt idx="1">
                  <c:v>76</c:v>
                </c:pt>
                <c:pt idx="2">
                  <c:v>64</c:v>
                </c:pt>
                <c:pt idx="3">
                  <c:v>74</c:v>
                </c:pt>
                <c:pt idx="4">
                  <c:v>69</c:v>
                </c:pt>
                <c:pt idx="5">
                  <c:v>62</c:v>
                </c:pt>
                <c:pt idx="6">
                  <c:v>99</c:v>
                </c:pt>
                <c:pt idx="7">
                  <c:v>105</c:v>
                </c:pt>
                <c:pt idx="8">
                  <c:v>106</c:v>
                </c:pt>
                <c:pt idx="9">
                  <c:v>100</c:v>
                </c:pt>
                <c:pt idx="10">
                  <c:v>152</c:v>
                </c:pt>
                <c:pt idx="11">
                  <c:v>99</c:v>
                </c:pt>
                <c:pt idx="12">
                  <c:v>64</c:v>
                </c:pt>
                <c:pt idx="13">
                  <c:v>94</c:v>
                </c:pt>
                <c:pt idx="14">
                  <c:v>96</c:v>
                </c:pt>
                <c:pt idx="15">
                  <c:v>132</c:v>
                </c:pt>
                <c:pt idx="16">
                  <c:v>122</c:v>
                </c:pt>
                <c:pt idx="17">
                  <c:v>141</c:v>
                </c:pt>
                <c:pt idx="18">
                  <c:v>92</c:v>
                </c:pt>
                <c:pt idx="19">
                  <c:v>83</c:v>
                </c:pt>
                <c:pt idx="20">
                  <c:v>132</c:v>
                </c:pt>
                <c:pt idx="21">
                  <c:v>110</c:v>
                </c:pt>
                <c:pt idx="22">
                  <c:v>127</c:v>
                </c:pt>
                <c:pt idx="23">
                  <c:v>108</c:v>
                </c:pt>
                <c:pt idx="24">
                  <c:v>114</c:v>
                </c:pt>
                <c:pt idx="25">
                  <c:v>133</c:v>
                </c:pt>
                <c:pt idx="26">
                  <c:v>139</c:v>
                </c:pt>
                <c:pt idx="27">
                  <c:v>136</c:v>
                </c:pt>
                <c:pt idx="28">
                  <c:v>132</c:v>
                </c:pt>
                <c:pt idx="29">
                  <c:v>92</c:v>
                </c:pt>
                <c:pt idx="30">
                  <c:v>153</c:v>
                </c:pt>
                <c:pt idx="31">
                  <c:v>129</c:v>
                </c:pt>
                <c:pt idx="32">
                  <c:v>126</c:v>
                </c:pt>
                <c:pt idx="33">
                  <c:v>158</c:v>
                </c:pt>
                <c:pt idx="34">
                  <c:v>108</c:v>
                </c:pt>
                <c:pt idx="35">
                  <c:v>109</c:v>
                </c:pt>
                <c:pt idx="36">
                  <c:v>146</c:v>
                </c:pt>
                <c:pt idx="37">
                  <c:v>141</c:v>
                </c:pt>
                <c:pt idx="38">
                  <c:v>153</c:v>
                </c:pt>
                <c:pt idx="39">
                  <c:v>165</c:v>
                </c:pt>
                <c:pt idx="40">
                  <c:v>138</c:v>
                </c:pt>
                <c:pt idx="41">
                  <c:v>93</c:v>
                </c:pt>
                <c:pt idx="42">
                  <c:v>181</c:v>
                </c:pt>
                <c:pt idx="43">
                  <c:v>123</c:v>
                </c:pt>
                <c:pt idx="44">
                  <c:v>130</c:v>
                </c:pt>
                <c:pt idx="45">
                  <c:v>183</c:v>
                </c:pt>
                <c:pt idx="46">
                  <c:v>126</c:v>
                </c:pt>
                <c:pt idx="47">
                  <c:v>108</c:v>
                </c:pt>
                <c:pt idx="48">
                  <c:v>191</c:v>
                </c:pt>
                <c:pt idx="49">
                  <c:v>207</c:v>
                </c:pt>
                <c:pt idx="50">
                  <c:v>157</c:v>
                </c:pt>
                <c:pt idx="51">
                  <c:v>266</c:v>
                </c:pt>
                <c:pt idx="52">
                  <c:v>189</c:v>
                </c:pt>
                <c:pt idx="53">
                  <c:v>145</c:v>
                </c:pt>
                <c:pt idx="54">
                  <c:v>245</c:v>
                </c:pt>
                <c:pt idx="55">
                  <c:v>195</c:v>
                </c:pt>
                <c:pt idx="56">
                  <c:v>167</c:v>
                </c:pt>
                <c:pt idx="57">
                  <c:v>203</c:v>
                </c:pt>
                <c:pt idx="58">
                  <c:v>257</c:v>
                </c:pt>
                <c:pt idx="59">
                  <c:v>235</c:v>
                </c:pt>
                <c:pt idx="60">
                  <c:v>218</c:v>
                </c:pt>
                <c:pt idx="61">
                  <c:v>214</c:v>
                </c:pt>
                <c:pt idx="62">
                  <c:v>300</c:v>
                </c:pt>
                <c:pt idx="63">
                  <c:v>237</c:v>
                </c:pt>
                <c:pt idx="64">
                  <c:v>236</c:v>
                </c:pt>
                <c:pt idx="65">
                  <c:v>303</c:v>
                </c:pt>
                <c:pt idx="66">
                  <c:v>229</c:v>
                </c:pt>
                <c:pt idx="67">
                  <c:v>213</c:v>
                </c:pt>
                <c:pt idx="68">
                  <c:v>302</c:v>
                </c:pt>
                <c:pt idx="69">
                  <c:v>316</c:v>
                </c:pt>
                <c:pt idx="70">
                  <c:v>258</c:v>
                </c:pt>
                <c:pt idx="71">
                  <c:v>292</c:v>
                </c:pt>
                <c:pt idx="72">
                  <c:v>319</c:v>
                </c:pt>
                <c:pt idx="73">
                  <c:v>322</c:v>
                </c:pt>
                <c:pt idx="74">
                  <c:v>312</c:v>
                </c:pt>
                <c:pt idx="75">
                  <c:v>341</c:v>
                </c:pt>
                <c:pt idx="76">
                  <c:v>339</c:v>
                </c:pt>
                <c:pt idx="77">
                  <c:v>353</c:v>
                </c:pt>
                <c:pt idx="78">
                  <c:v>355</c:v>
                </c:pt>
                <c:pt idx="79">
                  <c:v>359</c:v>
                </c:pt>
                <c:pt idx="80">
                  <c:v>348</c:v>
                </c:pt>
                <c:pt idx="81">
                  <c:v>394</c:v>
                </c:pt>
                <c:pt idx="82">
                  <c:v>356</c:v>
                </c:pt>
                <c:pt idx="83">
                  <c:v>370</c:v>
                </c:pt>
                <c:pt idx="84">
                  <c:v>376</c:v>
                </c:pt>
                <c:pt idx="85">
                  <c:v>410</c:v>
                </c:pt>
                <c:pt idx="86">
                  <c:v>333</c:v>
                </c:pt>
                <c:pt idx="87">
                  <c:v>347</c:v>
                </c:pt>
                <c:pt idx="88">
                  <c:v>414</c:v>
                </c:pt>
                <c:pt idx="89">
                  <c:v>377</c:v>
                </c:pt>
                <c:pt idx="90">
                  <c:v>410</c:v>
                </c:pt>
                <c:pt idx="91">
                  <c:v>396</c:v>
                </c:pt>
                <c:pt idx="92">
                  <c:v>409</c:v>
                </c:pt>
                <c:pt idx="93">
                  <c:v>388</c:v>
                </c:pt>
                <c:pt idx="94">
                  <c:v>397</c:v>
                </c:pt>
                <c:pt idx="95">
                  <c:v>377</c:v>
                </c:pt>
                <c:pt idx="96">
                  <c:v>395</c:v>
                </c:pt>
                <c:pt idx="97">
                  <c:v>430</c:v>
                </c:pt>
                <c:pt idx="98">
                  <c:v>419</c:v>
                </c:pt>
                <c:pt idx="99">
                  <c:v>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54-4801-B7A6-66AB3038B4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79643455"/>
        <c:axId val="1179622815"/>
      </c:lineChart>
      <c:catAx>
        <c:axId val="1179643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79622815"/>
        <c:crosses val="autoZero"/>
        <c:auto val="1"/>
        <c:lblAlgn val="ctr"/>
        <c:lblOffset val="100"/>
        <c:noMultiLvlLbl val="0"/>
      </c:catAx>
      <c:valAx>
        <c:axId val="1179622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25000"/>
                  <a:lumOff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79643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emf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78D5B8-FEFB-7C49-1D66-1686E8589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E87C6F-EDBC-8DEF-CBF1-776A5C68C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12DAA2-72CD-AE5D-ACDD-BCF3558E0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E5DA-763D-43E8-B5A7-CEEB1E393BF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6B1F8E-2DDF-AB4B-B18D-7A49B3AA4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F88D94-8448-B93F-9A53-81C387C22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A88F1-FA92-443E-85A0-4452B5FBB10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838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C6D54-2418-3B67-C3C9-CA505CC31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5325C6-A25A-C2EE-5E62-D3265074C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448290-A6E8-B1BD-E261-5FBE6CAB3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E5DA-763D-43E8-B5A7-CEEB1E393BF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4B9766-C49F-ABAF-32E0-7310E6B60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6D56B3-8476-06A1-C248-D215E4822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A88F1-FA92-443E-85A0-4452B5FBB10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0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5E549E-D111-D38E-9DC2-79902FDB5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D06835-0CBB-4324-EBF3-06C00EB7A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A6C7A6-22F6-C072-8210-AAC6787F5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E5DA-763D-43E8-B5A7-CEEB1E393BF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2A9EF1-F7B5-3733-E598-BD540D0D3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107A90-D192-80A5-78DE-6682F0EC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A88F1-FA92-443E-85A0-4452B5FBB10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31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AD2E99-9211-C331-0597-CD038620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CF139D-0847-78BB-2709-0A911C092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9F0D1E-8357-D06A-B6A2-B0307C820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13CCED-4350-E363-FF45-E2D084BB4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E5DA-763D-43E8-B5A7-CEEB1E393BF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0C169A-4318-BBCD-647C-446B936E1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822CA7-D65A-F46F-9B23-4D7107928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A88F1-FA92-443E-85A0-4452B5FBB10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3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55557E-639D-00A6-C16B-53480E49C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1FCBE1-A597-483A-27E5-ADE981638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E8A643-15A5-CA59-683D-FBFEA1388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897F3F-3C35-776A-E154-DB01EE4FD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5ABE248-367C-AC11-0B7A-D8756E996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4AF7D1A-08BE-EA91-43DC-48912E10E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E5DA-763D-43E8-B5A7-CEEB1E393BF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B6BEA3C-AED4-73FD-03E3-7B9E8ABB3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7333946-80DA-255A-B6C1-5D4F26C9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A88F1-FA92-443E-85A0-4452B5FBB10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99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BD469D-5F57-A1F9-D178-2650AD39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B4B8C5-1D15-9265-3971-4E1CE3257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E5DA-763D-43E8-B5A7-CEEB1E393BF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48A63D-C66A-7BF1-8035-97A75654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04E06B-7993-5CBB-DD5F-31356E5E2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A88F1-FA92-443E-85A0-4452B5FBB10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6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5606611-7F6C-7466-A837-C76DCCDC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E5DA-763D-43E8-B5A7-CEEB1E393BF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65A10C0-94EF-0D6D-4AC4-1D74F2116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40616B-A26C-2134-1C3B-F84F5E82E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A88F1-FA92-443E-85A0-4452B5FBB10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31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122CF5-9F44-76E6-6DC9-649155753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B75E8F-29C6-D2B1-0F8D-AF40B517A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413231-4B08-1865-7A6A-67BDD2A24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A63AC41-C77D-E55C-0212-00C31F591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E5DA-763D-43E8-B5A7-CEEB1E393BF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C6B4C2-14BB-7352-D653-2E2525BA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90F6BA-FF48-87C9-1B3E-B04876ED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A88F1-FA92-443E-85A0-4452B5FBB10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4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6AA5F7-97DB-CBA6-6451-0F2B844E3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AC78496-55EE-C5EF-B2AA-DA206AB14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48C10AF-B198-2B6F-37E9-D4D8B1833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3F235E-E33A-971A-7D87-FB7BBA871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E5DA-763D-43E8-B5A7-CEEB1E393BF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B57B8C-BE96-2EB6-AF64-FEBE6DF3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E6C0C3-02DC-EBF8-6604-3E2EFBD9A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A88F1-FA92-443E-85A0-4452B5FBB10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05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73D8E2-B6EF-9C72-4A1A-F48A8EEB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395EFE0-769E-C78B-D7CB-6D25CE26F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0324FF-D0C5-0AB2-9B9B-13CEB1170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E5DA-763D-43E8-B5A7-CEEB1E393BF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21D7F-BA5A-E9CE-6147-137ADEED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915EE4-68F9-8DDF-37A3-3F780429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A88F1-FA92-443E-85A0-4452B5FBB10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3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192C81-40D1-077B-0415-9CF28D0320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83E4A2F-ABC0-DECB-AD34-D35340A4C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D1F121-EC65-6248-0EE3-D09EB0557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CE5DA-763D-43E8-B5A7-CEEB1E393BF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17E7A9-3FE7-53BF-26E7-0387A79A1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5E3588-B6DC-5B02-8660-6ECC8921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A88F1-FA92-443E-85A0-4452B5FBB10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34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28775"/>
            <a:ext cx="12189337" cy="5229225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000" y="309600"/>
            <a:ext cx="1584000" cy="605160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309980"/>
            <a:ext cx="2664000" cy="347478"/>
          </a:xfrm>
          <a:prstGeom prst="rect">
            <a:avLst/>
          </a:prstGeom>
        </p:spPr>
      </p:pic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375" y="2340000"/>
            <a:ext cx="11082037" cy="752662"/>
          </a:xfrm>
        </p:spPr>
        <p:txBody>
          <a:bodyPr wrap="none" tIns="0" rIns="0" anchor="ctr">
            <a:noAutofit/>
          </a:bodyPr>
          <a:lstStyle>
            <a:lvl1pPr algn="l">
              <a:lnSpc>
                <a:spcPct val="110000"/>
              </a:lnSpc>
              <a:defRPr sz="2800" b="1" i="0" u="none" baseline="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de-DE" dirty="0"/>
              <a:t>The NEW FAU PowerPoint </a:t>
            </a:r>
            <a:r>
              <a:rPr lang="de-DE" dirty="0" err="1"/>
              <a:t>template</a:t>
            </a:r>
            <a:br>
              <a:rPr lang="de-DE" dirty="0"/>
            </a:br>
            <a:r>
              <a:rPr lang="en-US" dirty="0"/>
              <a:t>(extended by Joachim Falk with the Co-Design logo),</a:t>
            </a:r>
            <a:br>
              <a:rPr lang="en-US" dirty="0"/>
            </a:br>
            <a:r>
              <a:rPr lang="en-US" dirty="0"/>
              <a:t>conforming to the 2021 FAU corporate design guide</a:t>
            </a:r>
            <a:endParaRPr lang="de-DE" dirty="0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00" y="309600"/>
            <a:ext cx="1227421" cy="604800"/>
          </a:xfrm>
          <a:prstGeom prst="rect">
            <a:avLst/>
          </a:prstGeom>
        </p:spPr>
      </p:pic>
      <p:sp>
        <p:nvSpPr>
          <p:cNvPr id="10" name="Textplatzhalt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01200" y="3780000"/>
            <a:ext cx="11069319" cy="9144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sz="1800" b="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Joachim Falk</a:t>
            </a:r>
            <a:br>
              <a:rPr lang="de-DE" dirty="0"/>
            </a:br>
            <a:r>
              <a:rPr lang="de-DE" sz="1600" dirty="0">
                <a:latin typeface="FAUSans Office" panose="020B0504010101010104" pitchFamily="34" charset="0"/>
                <a:cs typeface="FAUSans Office" panose="020B0504010101010104" pitchFamily="34" charset="0"/>
              </a:rPr>
              <a:t>Friedrich-Alexander-Universität Erlangen-Nürnberg, Hardware-Software-Co-Design</a:t>
            </a:r>
            <a:br>
              <a:rPr lang="de-DE" sz="1600" dirty="0">
                <a:latin typeface="FAUSans Office" panose="020B0504010101010104" pitchFamily="34" charset="0"/>
                <a:cs typeface="FAUSans Office" panose="020B0504010101010104" pitchFamily="34" charset="0"/>
              </a:rPr>
            </a:br>
            <a:r>
              <a:rPr lang="de-DE" sz="1600" dirty="0">
                <a:latin typeface="FAUSans Office" panose="020B0504010101010104" pitchFamily="34" charset="0"/>
                <a:cs typeface="FAUSans Office" panose="020B0504010101010104" pitchFamily="34" charset="0"/>
              </a:rPr>
              <a:t>Aug</a:t>
            </a:r>
            <a:r>
              <a:rPr lang="de-DE" sz="1600" baseline="0" dirty="0">
                <a:latin typeface="FAUSans Office" panose="020B0504010101010104" pitchFamily="34" charset="0"/>
                <a:cs typeface="FAUSans Office" panose="020B0504010101010104" pitchFamily="34" charset="0"/>
              </a:rPr>
              <a:t> 4</a:t>
            </a:r>
            <a:r>
              <a:rPr lang="de-DE" sz="1600" dirty="0">
                <a:latin typeface="FAUSans Office" panose="020B0504010101010104" pitchFamily="34" charset="0"/>
                <a:cs typeface="FAUSans Office" panose="020B0504010101010104" pitchFamily="34" charset="0"/>
              </a:rPr>
              <a:t>, 2022</a:t>
            </a:r>
            <a:endParaRPr lang="en-US" sz="1600" dirty="0">
              <a:latin typeface="FAUSans Office" panose="020B0504010101010104" pitchFamily="34" charset="0"/>
              <a:cs typeface="FAUSans Office" panose="020B050401010101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363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C6F2-BFE9-4DA1-8335-8212BBEBDEDB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</p:spTree>
    <p:extLst>
      <p:ext uri="{BB962C8B-B14F-4D97-AF65-F5344CB8AC3E}">
        <p14:creationId xmlns:p14="http://schemas.microsoft.com/office/powerpoint/2010/main" val="2324894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0691-36C4-442B-801E-F5F906A331D4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E94ED47E-AE0F-46CF-A861-AA42DCC173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624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3041201"/>
            <a:ext cx="11157743" cy="775597"/>
          </a:xfrm>
        </p:spPr>
        <p:txBody>
          <a:bodyPr anchor="ctr" anchorCtr="0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DBE663-8CF8-4EA4-AF83-5C771F9A06FE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309599"/>
            <a:ext cx="2664000" cy="347478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000" y="309600"/>
            <a:ext cx="1584000" cy="605160"/>
          </a:xfrm>
          <a:prstGeom prst="rect">
            <a:avLst/>
          </a:prstGeom>
        </p:spPr>
      </p:pic>
      <p:pic>
        <p:nvPicPr>
          <p:cNvPr id="42" name="Grafik 41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00" y="309600"/>
            <a:ext cx="1227421" cy="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61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CF17-48A0-4939-9B86-4A0E590241E6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8AE96D7-C3C8-4590-B13B-86D938A789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671924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C8739-BFB7-40C2-B28E-69BB709E9C11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AC64890-C924-4759-9B9B-7DE74E38C4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81843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6080-B214-4A27-A13D-95A31493955D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7A7A670F-933B-48F3-B921-A1B739D6C9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56232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4BF54-E288-44CA-9624-72B71A8A42AB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97A335FC-7B0F-4DB2-A1F6-1DF2163981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326448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55A8-E7B1-419D-84AA-0C89B698BF26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D7BA2DC0-EE95-4994-AD5A-8F6A7D106E5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89530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3501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4C7B6-65DB-4651-9D6D-787BD251B230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22FFE2B-554A-4423-8513-4D2A70D2DB1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46826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74B9-4BBE-42DB-8ECC-1B8A75D6203E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5F1A965F-F63A-4B03-A142-6DC4620DA5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636474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888-8294-4426-A426-0D17B6B1880D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B180B26F-6FF8-4738-A10C-E14470F0B8C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691414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94D4-C9B8-4F96-8FF6-79E826889C55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4AF0876-C672-488E-ADCD-17BBFC3363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71363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0F4A-AEAE-4C58-AA76-7EADB0FF7089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777B5741-96D1-4193-A4A5-5EE22D85663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015077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67C9-4C75-43A9-95B7-0690D6F29CA5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BCC7105-5E2C-4745-BEC8-77E521534F9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46861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r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462FD0-9E74-4D67-97DA-C8DBAA1AE5FF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 b="0" i="0">
                <a:solidFill>
                  <a:schemeClr val="tx2"/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800" y="360000"/>
            <a:ext cx="1080000" cy="41260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000" y="360000"/>
            <a:ext cx="94979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45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168-1D2E-414B-9AFB-B7BB2EA3568F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903DE59B-FC71-4F7B-BBCF-9B96B09DD62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917502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DA59-479C-41C3-99F0-9A24DD470063}" type="datetime4">
              <a:rPr lang="de-DE" smtClean="0"/>
              <a:t>28.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>
                <a:solidFill>
                  <a:srgbClr val="041E4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BEC83A6-EBB5-4F38-9A43-62A2E7E3616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52473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28775"/>
            <a:ext cx="12189337" cy="5229225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309600"/>
            <a:ext cx="2664000" cy="349200"/>
          </a:xfrm>
          <a:prstGeom prst="rect">
            <a:avLst/>
          </a:prstGeom>
        </p:spPr>
      </p:pic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i="0" dirty="0" smtClean="0">
                <a:latin typeface="FAUSans Office" panose="020B0504010101010104" pitchFamily="34" charset="77"/>
                <a:ea typeface="+mj-ea"/>
                <a:cs typeface="FAUSans Office" panose="020B0504010101010104" pitchFamily="34" charset="77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000" y="309600"/>
            <a:ext cx="1584000" cy="605160"/>
          </a:xfrm>
          <a:prstGeom prst="rect">
            <a:avLst/>
          </a:prstGeom>
        </p:spPr>
      </p:pic>
      <p:pic>
        <p:nvPicPr>
          <p:cNvPr id="115" name="Grafik 114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00" y="309600"/>
            <a:ext cx="1227421" cy="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70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3CD8B7-E170-0913-2C80-D7597B614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112BC9-CA62-CB79-5238-1DE90962E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7FF7D4-FF83-8D92-BDDD-66C94E5D1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1CE5DA-763D-43E8-B5A7-CEEB1E393BF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F172DF-182B-AE44-1A03-2EB22B179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33D090-E60B-2F4A-DFAA-B2F73144B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BA88F1-FA92-443E-85A0-4452B5FBB10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26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9787" y="6634666"/>
            <a:ext cx="617157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fld id="{E4F9C00A-8AFB-47C9-A7D9-7909CE906E5E}" type="datetime4">
              <a:rPr lang="de-DE" smtClean="0"/>
              <a:pPr/>
              <a:t>28. November 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 b="0" i="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879" y="6634666"/>
            <a:ext cx="20518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14D59EEC-E0BA-43F5-BBC0-E623BF3D0A64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360000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000" y="360000"/>
            <a:ext cx="94979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5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rgbClr val="041E42"/>
          </a:solidFill>
          <a:latin typeface="FAUSans Office" panose="020B0504010101010104" pitchFamily="34" charset="77"/>
          <a:ea typeface="+mj-ea"/>
          <a:cs typeface="FAUSans Office" panose="020B0504010101010104" pitchFamily="34" charset="77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b="0" i="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b="0" i="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b="0" i="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b="0" i="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b="0" i="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b="0" i="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b="0" i="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Graph-Based Energy Budget Computation </a:t>
            </a:r>
            <a:br>
              <a:rPr lang="en-US" dirty="0"/>
            </a:br>
            <a:r>
              <a:rPr lang="en-US" dirty="0"/>
              <a:t>in Wireless Sensor Networks</a:t>
            </a:r>
            <a:br>
              <a:rPr lang="en-US" dirty="0"/>
            </a:br>
            <a:endParaRPr lang="de-DE" b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/>
          </p:nvPr>
        </p:nvSpPr>
        <p:spPr>
          <a:xfrm>
            <a:off x="601200" y="3779999"/>
            <a:ext cx="11069319" cy="1599309"/>
          </a:xfrm>
        </p:spPr>
        <p:txBody>
          <a:bodyPr>
            <a:normAutofit fontScale="70000" lnSpcReduction="20000"/>
          </a:bodyPr>
          <a:lstStyle/>
          <a:p>
            <a:r>
              <a:rPr lang="de-DE" b="1" dirty="0"/>
              <a:t>Roman </a:t>
            </a:r>
            <a:r>
              <a:rPr lang="de-DE" b="1" dirty="0" err="1"/>
              <a:t>Riazanov</a:t>
            </a:r>
            <a:endParaRPr lang="de-DE" b="1" dirty="0"/>
          </a:p>
          <a:p>
            <a:r>
              <a:rPr lang="de-DE" b="1" dirty="0"/>
              <a:t>Prof. Dr.-Ing. Jürgen Teich</a:t>
            </a:r>
          </a:p>
          <a:p>
            <a:r>
              <a:rPr lang="de-DE" b="1" dirty="0"/>
              <a:t>Pierre-Louis </a:t>
            </a:r>
            <a:r>
              <a:rPr lang="de-DE" b="1" dirty="0" err="1"/>
              <a:t>Sixdenier</a:t>
            </a:r>
            <a:endParaRPr lang="de-DE" b="1" dirty="0"/>
          </a:p>
          <a:p>
            <a:br>
              <a:rPr lang="de-DE" dirty="0"/>
            </a:br>
            <a:r>
              <a:rPr lang="de-DE" dirty="0"/>
              <a:t>Friedrich-Alexander-Universität Erlangen-Nürnberg</a:t>
            </a:r>
            <a:br>
              <a:rPr lang="de-DE" dirty="0"/>
            </a:br>
            <a:r>
              <a:rPr lang="de-DE" dirty="0"/>
              <a:t>28.11.2025</a:t>
            </a:r>
          </a:p>
        </p:txBody>
      </p:sp>
    </p:spTree>
    <p:extLst>
      <p:ext uri="{BB962C8B-B14F-4D97-AF65-F5344CB8AC3E}">
        <p14:creationId xmlns:p14="http://schemas.microsoft.com/office/powerpoint/2010/main" val="2695465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7EB3AC-6569-4142-84A6-00A3DA66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9CC872-C2E8-4C73-9CC7-648F3E3EC96E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28. November 2025</a:t>
            </a:fld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USans Office" panose="020B0504010101010104" pitchFamily="34" charset="77"/>
              <a:ea typeface="+mn-ea"/>
              <a:cs typeface="FAUSans Office" panose="020B0504010101010104" pitchFamily="34" charset="77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rPr>
              <a:t>Technische Fakultät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USans Office" panose="020B0504010101010104" pitchFamily="34" charset="77"/>
              <a:ea typeface="+mn-ea"/>
              <a:cs typeface="FAUSans Office" panose="020B0504010101010104" pitchFamily="34" charset="77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3546" y="6634666"/>
            <a:ext cx="62517" cy="12311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USans Office" panose="020B0504010101010104" pitchFamily="34" charset="77"/>
              <a:ea typeface="+mn-ea"/>
              <a:cs typeface="FAUSans Office" panose="020B0504010101010104" pitchFamily="34" charset="77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B28E489-36E7-42B6-94D2-8D55BD2E1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Sensors in WSNs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have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to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supply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themselves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with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energy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,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some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use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a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battery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,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which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is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however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eventually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depleted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therefore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they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often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use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energy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harvesting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(e.g. </a:t>
            </a:r>
            <a:r>
              <a:rPr lang="de-DE" dirty="0" err="1"/>
              <a:t>collecting</a:t>
            </a:r>
            <a:r>
              <a:rPr lang="de-DE" dirty="0"/>
              <a:t> solar </a:t>
            </a:r>
            <a:r>
              <a:rPr lang="de-DE" dirty="0" err="1"/>
              <a:t>energy</a:t>
            </a:r>
            <a:r>
              <a:rPr lang="de-DE" dirty="0"/>
              <a:t>)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extend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lifetime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lifetime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unlimited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such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beginning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time </a:t>
            </a:r>
            <a:r>
              <a:rPr lang="de-DE" dirty="0" err="1"/>
              <a:t>intervall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(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less</a:t>
            </a:r>
            <a:r>
              <a:rPr lang="de-DE" dirty="0"/>
              <a:t>) </a:t>
            </a:r>
            <a:r>
              <a:rPr lang="de-DE" dirty="0" err="1"/>
              <a:t>as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end</a:t>
            </a:r>
          </a:p>
          <a:p>
            <a:pPr marL="465750" lvl="1" indent="-285750">
              <a:buFont typeface="Wingdings" panose="05000000000000000000" pitchFamily="2" charset="2"/>
              <a:buChar char="Ø"/>
            </a:pP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energy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neutral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operation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:</a:t>
            </a:r>
          </a:p>
          <a:p>
            <a:pPr marL="465750" lvl="1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Sens</a:t>
            </a:r>
            <a:r>
              <a:rPr lang="de-DE" dirty="0"/>
              <a:t>or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perform </a:t>
            </a:r>
            <a:r>
              <a:rPr lang="de-DE" dirty="0" err="1"/>
              <a:t>certain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energy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Problem Description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Wireless Sensor Networks (WSN) and Energy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Harvesting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ECCAA8A-5CBF-02AB-6C46-F58BFA04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757" y="4136753"/>
            <a:ext cx="1579638" cy="40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39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7EB3AC-6569-4142-84A6-00A3DA66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9CC872-C2E8-4C73-9CC7-648F3E3EC96E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28. November 2025</a:t>
            </a:fld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USans Office" panose="020B0504010101010104" pitchFamily="34" charset="77"/>
              <a:ea typeface="+mn-ea"/>
              <a:cs typeface="FAUSans Office" panose="020B0504010101010104" pitchFamily="34" charset="77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rPr>
              <a:t>Technische Fakultät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USans Office" panose="020B0504010101010104" pitchFamily="34" charset="77"/>
              <a:ea typeface="+mn-ea"/>
              <a:cs typeface="FAUSans Office" panose="020B0504010101010104" pitchFamily="34" charset="77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3546" y="6634666"/>
            <a:ext cx="62517" cy="12311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USans Office" panose="020B0504010101010104" pitchFamily="34" charset="77"/>
              <a:ea typeface="+mn-ea"/>
              <a:cs typeface="FAUSans Office" panose="020B0504010101010104" pitchFamily="34" charset="77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B28E489-36E7-42B6-94D2-8D55BD2E1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tasks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in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our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model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do not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have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a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specific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functionality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we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hav</a:t>
            </a:r>
            <a:r>
              <a:rPr lang="de-DE" dirty="0" err="1"/>
              <a:t>e</a:t>
            </a:r>
            <a:r>
              <a:rPr lang="de-DE" dirty="0"/>
              <a:t> a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task</a:t>
            </a:r>
            <a:r>
              <a:rPr lang="de-DE" dirty="0"/>
              <a:t>       </a:t>
            </a:r>
            <a:r>
              <a:rPr lang="de-DE" dirty="0" err="1"/>
              <a:t>has</a:t>
            </a:r>
            <a:r>
              <a:rPr lang="de-DE" dirty="0"/>
              <a:t> a </a:t>
            </a:r>
            <a:r>
              <a:rPr lang="de-DE" dirty="0" err="1"/>
              <a:t>specific</a:t>
            </a:r>
            <a:endParaRPr lang="de-DE" dirty="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energy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consumption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(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cost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):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quality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result</a:t>
            </a:r>
            <a:r>
              <a:rPr lang="de-DE" dirty="0"/>
              <a:t>: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Problem Description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Task Model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513AA4D-514C-69A1-6F2B-D819D90CD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257" y="2800865"/>
            <a:ext cx="2086928" cy="48336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34C85AF-5395-FAAD-1C78-4193FD15D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58" y="3715266"/>
            <a:ext cx="281762" cy="34437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F05BDFF1-EE4E-567A-2E9C-39004DD50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934" y="4145414"/>
            <a:ext cx="285516" cy="31070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11857AA-347D-ED1D-BB8C-301F96243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3459" y="4563762"/>
            <a:ext cx="301151" cy="34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376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7EB3AC-6569-4142-84A6-00A3DA66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fld id="{499CC872-C2E8-4C73-9CC7-648F3E3EC96E}" type="datetime4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28. November 2025</a:t>
            </a:fld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>
                <a:latin typeface="FAUSans Office" panose="020B0504010101010104" pitchFamily="34" charset="77"/>
                <a:cs typeface="FAUSans Office" panose="020B0504010101010104" pitchFamily="34" charset="77"/>
              </a:rPr>
              <a:t>Technische Fakultät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3546" y="6634666"/>
            <a:ext cx="62517" cy="123111"/>
          </a:xfrm>
        </p:spPr>
        <p:txBody>
          <a:bodyPr/>
          <a:lstStyle/>
          <a:p>
            <a:fld id="{D949F9DF-37BD-4CD6-BF49-65BA579E1D7A}" type="slidenum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4</a:t>
            </a:fld>
            <a:endParaRPr lang="de-DE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B28E489-36E7-42B6-94D2-8D55BD2E1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>
            <a:normAutofit/>
          </a:bodyPr>
          <a:lstStyle/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divide </a:t>
            </a:r>
            <a:r>
              <a:rPr lang="de-DE" dirty="0" err="1"/>
              <a:t>up</a:t>
            </a:r>
            <a:r>
              <a:rPr lang="de-DE" dirty="0"/>
              <a:t> time,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sensor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 neutral </a:t>
            </a:r>
            <a:r>
              <a:rPr lang="de-DE" dirty="0" err="1"/>
              <a:t>into</a:t>
            </a:r>
            <a:r>
              <a:rPr lang="de-DE" dirty="0"/>
              <a:t> K </a:t>
            </a:r>
            <a:r>
              <a:rPr lang="de-DE" dirty="0" err="1"/>
              <a:t>timeslots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battery</a:t>
            </a:r>
            <a:r>
              <a:rPr lang="de-DE" dirty="0"/>
              <a:t> also </a:t>
            </a:r>
            <a:r>
              <a:rPr lang="de-DE" dirty="0" err="1"/>
              <a:t>discretely</a:t>
            </a:r>
            <a:r>
              <a:rPr lang="de-DE" dirty="0"/>
              <a:t> </a:t>
            </a:r>
            <a:r>
              <a:rPr lang="de-DE" dirty="0" err="1"/>
              <a:t>divided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slots</a:t>
            </a:r>
            <a:r>
              <a:rPr lang="de-DE" dirty="0"/>
              <a:t> </a:t>
            </a:r>
            <a:r>
              <a:rPr lang="de-DE" dirty="0" err="1"/>
              <a:t>with</a:t>
            </a:r>
            <a:endParaRPr lang="de-DE" dirty="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start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:	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/>
              <a:t>maximum:	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minimum</a:t>
            </a:r>
            <a:r>
              <a:rPr lang="de-DE" dirty="0"/>
              <a:t>: 	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amount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incoming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 per </a:t>
            </a:r>
            <a:r>
              <a:rPr lang="de-DE" dirty="0" err="1"/>
              <a:t>timeslot</a:t>
            </a:r>
            <a:r>
              <a:rPr lang="de-DE" dirty="0"/>
              <a:t> (</a:t>
            </a:r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predicted</a:t>
            </a:r>
            <a:r>
              <a:rPr lang="de-DE" dirty="0"/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645750" lvl="2" indent="-285750">
              <a:buFont typeface="Courier New" panose="02070309020205020404" pitchFamily="49" charset="0"/>
              <a:buChar char="o"/>
            </a:pP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/>
              <a:t>Problem Description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F38825F-29EB-7129-8A2B-100EA9621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625" y="4909752"/>
            <a:ext cx="559674" cy="42798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AA302EC-5BBA-E000-9F51-B90E67A0E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956" y="3705239"/>
            <a:ext cx="567050" cy="35003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8E91525-DA85-682A-6F5A-E0CF5A7E5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956" y="3309967"/>
            <a:ext cx="959375" cy="35310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9B82A537-18FB-9775-4460-FDFEF407CF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8880" y="4096961"/>
            <a:ext cx="606125" cy="39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98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7EB3AC-6569-4142-84A6-00A3DA66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fld id="{499CC872-C2E8-4C73-9CC7-648F3E3EC96E}" type="datetime4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28. November 2025</a:t>
            </a:fld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>
                <a:latin typeface="FAUSans Office" panose="020B0504010101010104" pitchFamily="34" charset="77"/>
                <a:cs typeface="FAUSans Office" panose="020B0504010101010104" pitchFamily="34" charset="77"/>
              </a:rPr>
              <a:t>Technische Fakultät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3546" y="6634666"/>
            <a:ext cx="62517" cy="123111"/>
          </a:xfrm>
        </p:spPr>
        <p:txBody>
          <a:bodyPr/>
          <a:lstStyle/>
          <a:p>
            <a:fld id="{D949F9DF-37BD-4CD6-BF49-65BA579E1D7A}" type="slidenum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5</a:t>
            </a:fld>
            <a:endParaRPr lang="de-DE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B28E489-36E7-42B6-94D2-8D55BD2E1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>
            <a:normAutofit lnSpcReduction="10000"/>
          </a:bodyPr>
          <a:lstStyle/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endParaRPr lang="de-DE" dirty="0"/>
          </a:p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endParaRPr lang="de-DE" dirty="0"/>
          </a:p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endParaRPr lang="de-DE" dirty="0"/>
          </a:p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endParaRPr lang="de-DE" dirty="0"/>
          </a:p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a </a:t>
            </a:r>
            <a:r>
              <a:rPr lang="de-DE" dirty="0" err="1"/>
              <a:t>dynamic</a:t>
            </a:r>
            <a:r>
              <a:rPr lang="de-DE" dirty="0"/>
              <a:t> </a:t>
            </a:r>
            <a:r>
              <a:rPr lang="de-DE" dirty="0" err="1"/>
              <a:t>programming</a:t>
            </a:r>
            <a:r>
              <a:rPr lang="de-DE" dirty="0"/>
              <a:t> </a:t>
            </a:r>
            <a:r>
              <a:rPr lang="de-DE" dirty="0" err="1"/>
              <a:t>algorithm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problem</a:t>
            </a:r>
            <a:r>
              <a:rPr lang="de-DE" dirty="0"/>
              <a:t>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iterates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timeslot</a:t>
            </a:r>
            <a:r>
              <a:rPr lang="de-DE" dirty="0"/>
              <a:t> and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marL="645750" lvl="2" indent="-285750">
              <a:buFont typeface="Wingdings" panose="05000000000000000000" pitchFamily="2" charset="2"/>
              <a:buChar char="Ø"/>
            </a:pPr>
            <a:r>
              <a:rPr lang="de-DE" dirty="0" err="1"/>
              <a:t>idea</a:t>
            </a:r>
            <a:r>
              <a:rPr lang="de-DE" dirty="0"/>
              <a:t>: </a:t>
            </a:r>
            <a:r>
              <a:rPr lang="de-DE" dirty="0" err="1"/>
              <a:t>explore</a:t>
            </a:r>
            <a:r>
              <a:rPr lang="de-DE" dirty="0"/>
              <a:t> </a:t>
            </a:r>
            <a:r>
              <a:rPr lang="de-DE" dirty="0" err="1"/>
              <a:t>problem</a:t>
            </a:r>
            <a:r>
              <a:rPr lang="de-DE" dirty="0"/>
              <a:t> in a </a:t>
            </a:r>
            <a:r>
              <a:rPr lang="de-DE" dirty="0" err="1"/>
              <a:t>graph-based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and find an </a:t>
            </a:r>
            <a:r>
              <a:rPr lang="de-DE" dirty="0" err="1"/>
              <a:t>approximate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gain</a:t>
            </a:r>
            <a:r>
              <a:rPr lang="de-DE" dirty="0"/>
              <a:t> an </a:t>
            </a:r>
            <a:r>
              <a:rPr lang="de-DE" dirty="0" err="1"/>
              <a:t>advantage</a:t>
            </a:r>
            <a:r>
              <a:rPr lang="de-DE" dirty="0"/>
              <a:t> (e.g. save time)</a:t>
            </a:r>
          </a:p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Proble</a:t>
            </a:r>
            <a:r>
              <a:rPr lang="de-DE" dirty="0"/>
              <a:t>m Description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r>
              <a:rPr lang="de-DE" dirty="0"/>
              <a:t>Problem </a:t>
            </a:r>
            <a:r>
              <a:rPr lang="de-DE" dirty="0" err="1"/>
              <a:t>formulated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ILP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D6155F4-6EB3-038F-BC63-36E2491A5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438" y="1320102"/>
            <a:ext cx="6647327" cy="376595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06D03D0-0EF1-563D-FC77-F20021FDA1A5}"/>
              </a:ext>
            </a:extLst>
          </p:cNvPr>
          <p:cNvSpPr txBox="1"/>
          <p:nvPr/>
        </p:nvSpPr>
        <p:spPr>
          <a:xfrm>
            <a:off x="8029894" y="1383957"/>
            <a:ext cx="3804076" cy="10288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050" dirty="0">
                <a:solidFill>
                  <a:prstClr val="black"/>
                </a:solidFill>
              </a:rPr>
              <a:t>source for ILP:  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050" dirty="0">
                <a:solidFill>
                  <a:prstClr val="black"/>
                </a:solidFill>
              </a:rPr>
              <a:t>Caruso, A., Chessa, S., Escolar, S., Del Toro, X., &amp; López, J. C. (2018). A dynamic programming algorithm for high-level task scheduling in energy harvesting IoT. IEEE Internet of Things Journal, 5(3), 2234-2248.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771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7EB3AC-6569-4142-84A6-00A3DA66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fld id="{499CC872-C2E8-4C73-9CC7-648F3E3EC96E}" type="datetime4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28. November 2025</a:t>
            </a:fld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>
                <a:latin typeface="FAUSans Office" panose="020B0504010101010104" pitchFamily="34" charset="77"/>
                <a:cs typeface="FAUSans Office" panose="020B0504010101010104" pitchFamily="34" charset="77"/>
              </a:rPr>
              <a:t>Technische Fakultät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3546" y="6634666"/>
            <a:ext cx="62517" cy="123111"/>
          </a:xfrm>
        </p:spPr>
        <p:txBody>
          <a:bodyPr/>
          <a:lstStyle/>
          <a:p>
            <a:fld id="{D949F9DF-37BD-4CD6-BF49-65BA579E1D7A}" type="slidenum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6</a:t>
            </a:fld>
            <a:endParaRPr lang="de-DE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B28E489-36E7-42B6-94D2-8D55BD2E1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>
            <a:normAutofit lnSpcReduction="10000"/>
          </a:bodyPr>
          <a:lstStyle/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r>
              <a:rPr lang="de-DE" sz="2400" dirty="0"/>
              <a:t>	</a:t>
            </a:r>
          </a:p>
          <a:p>
            <a:r>
              <a:rPr lang="de-DE" sz="2400" dirty="0"/>
              <a:t>	RQ 1: 	</a:t>
            </a:r>
            <a:r>
              <a:rPr lang="en-US" sz="2400" dirty="0"/>
              <a:t>What are the most suitable graph traversal heuristics to compute an 		approximate solution to the energy budget computation problem?</a:t>
            </a:r>
          </a:p>
          <a:p>
            <a:r>
              <a:rPr lang="en-US" sz="2400" dirty="0">
                <a:latin typeface="FAUSans Office" panose="020B0504010101010104" pitchFamily="34" charset="77"/>
                <a:cs typeface="FAUSans Office" panose="020B0504010101010104" pitchFamily="34" charset="77"/>
              </a:rPr>
              <a:t>	</a:t>
            </a:r>
          </a:p>
          <a:p>
            <a:r>
              <a:rPr lang="en-US" sz="2400" dirty="0"/>
              <a:t>	RQ 2:	How do the proposed graph-based approaches compare to existing 		methods in terms of computation time, memory footprint, and 			quality of the computed energy budget? </a:t>
            </a:r>
            <a:endParaRPr lang="en-US" sz="2400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endParaRPr lang="en-US" sz="2400" dirty="0"/>
          </a:p>
          <a:p>
            <a:r>
              <a:rPr lang="en-US" sz="2400" dirty="0">
                <a:latin typeface="FAUSans Office" panose="020B0504010101010104" pitchFamily="34" charset="77"/>
                <a:cs typeface="FAUSans Office" panose="020B0504010101010104" pitchFamily="34" charset="77"/>
              </a:rPr>
              <a:t>	</a:t>
            </a:r>
            <a:endParaRPr lang="de-DE" sz="2400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Research Questions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7759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>
            <a:extLst>
              <a:ext uri="{FF2B5EF4-FFF2-40B4-BE49-F238E27FC236}">
                <a16:creationId xmlns:a16="http://schemas.microsoft.com/office/drawing/2014/main" id="{D353E3EC-0976-0E06-3D4B-3A28BD02A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760" y="1701271"/>
            <a:ext cx="4763118" cy="3776285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7EB3AC-6569-4142-84A6-00A3DA66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9CC872-C2E8-4C73-9CC7-648F3E3EC96E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28. November 2025</a:t>
            </a:fld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USans Office" panose="020B0504010101010104" pitchFamily="34" charset="77"/>
              <a:ea typeface="+mn-ea"/>
              <a:cs typeface="FAUSans Office" panose="020B0504010101010104" pitchFamily="34" charset="77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rPr>
              <a:t>Technische Fakultät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USans Office" panose="020B0504010101010104" pitchFamily="34" charset="77"/>
              <a:ea typeface="+mn-ea"/>
              <a:cs typeface="FAUSans Office" panose="020B0504010101010104" pitchFamily="34" charset="77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3546" y="6634666"/>
            <a:ext cx="62517" cy="12311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USans Office" panose="020B0504010101010104" pitchFamily="34" charset="77"/>
              <a:ea typeface="+mn-ea"/>
              <a:cs typeface="FAUSans Office" panose="020B0504010101010104" pitchFamily="34" charset="77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B28E489-36E7-42B6-94D2-8D55BD2E1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nodes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distinguished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timeslot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t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battery</a:t>
            </a:r>
            <a:r>
              <a:rPr lang="de-DE" dirty="0"/>
              <a:t> </a:t>
            </a:r>
            <a:r>
              <a:rPr lang="de-DE" dirty="0" err="1"/>
              <a:t>level</a:t>
            </a:r>
            <a:r>
              <a:rPr lang="de-DE" dirty="0"/>
              <a:t> b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edges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contain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the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tas</a:t>
            </a:r>
            <a:r>
              <a:rPr lang="de-DE" dirty="0" err="1"/>
              <a:t>ks</a:t>
            </a:r>
            <a:endParaRPr lang="de-DE" dirty="0"/>
          </a:p>
          <a:p>
            <a:pPr>
              <a:spcAft>
                <a:spcPts val="0"/>
              </a:spcAft>
            </a:pPr>
            <a:endParaRPr lang="de-DE" dirty="0"/>
          </a:p>
          <a:p>
            <a:pPr>
              <a:spcAft>
                <a:spcPts val="0"/>
              </a:spcAft>
            </a:pP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 err="1"/>
              <a:t>Battery</a:t>
            </a:r>
            <a:r>
              <a:rPr lang="de-DE" dirty="0"/>
              <a:t> </a:t>
            </a:r>
            <a:r>
              <a:rPr lang="de-DE" dirty="0" err="1"/>
              <a:t>level</a:t>
            </a:r>
            <a:r>
              <a:rPr lang="de-DE" dirty="0"/>
              <a:t> </a:t>
            </a:r>
            <a:r>
              <a:rPr lang="de-DE" dirty="0" err="1"/>
              <a:t>formula</a:t>
            </a:r>
            <a:r>
              <a:rPr lang="de-DE" dirty="0"/>
              <a:t>:</a:t>
            </a:r>
          </a:p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Graph Model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BCA61BC-9756-82F5-FD11-A5773A40AE17}"/>
              </a:ext>
            </a:extLst>
          </p:cNvPr>
          <p:cNvSpPr txBox="1"/>
          <p:nvPr/>
        </p:nvSpPr>
        <p:spPr>
          <a:xfrm>
            <a:off x="7731622" y="2408231"/>
            <a:ext cx="741406" cy="6745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= i</a:t>
            </a: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b = 20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956E9AD-2ACC-F2E7-1E55-2BD241EAA58E}"/>
              </a:ext>
            </a:extLst>
          </p:cNvPr>
          <p:cNvSpPr txBox="1"/>
          <p:nvPr/>
        </p:nvSpPr>
        <p:spPr>
          <a:xfrm>
            <a:off x="9121775" y="4076118"/>
            <a:ext cx="767643" cy="6745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= i+1</a:t>
            </a: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b = 21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97AD145-CECF-8118-FA8A-6D3EE6702971}"/>
              </a:ext>
            </a:extLst>
          </p:cNvPr>
          <p:cNvSpPr txBox="1"/>
          <p:nvPr/>
        </p:nvSpPr>
        <p:spPr>
          <a:xfrm>
            <a:off x="6392562" y="4076118"/>
            <a:ext cx="758283" cy="6745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= i+1</a:t>
            </a: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dirty="0">
                <a:solidFill>
                  <a:prstClr val="black"/>
                </a:solidFill>
                <a:latin typeface="Arial"/>
              </a:rPr>
              <a:t>b = 18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9EB6EAFA-3B75-B836-4498-3A608738A85F}"/>
              </a:ext>
            </a:extLst>
          </p:cNvPr>
          <p:cNvSpPr txBox="1"/>
          <p:nvPr/>
        </p:nvSpPr>
        <p:spPr>
          <a:xfrm>
            <a:off x="6660964" y="3117832"/>
            <a:ext cx="1236675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task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1: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400" dirty="0" err="1">
                <a:solidFill>
                  <a:prstClr val="black"/>
                </a:solidFill>
                <a:latin typeface="Arial"/>
              </a:rPr>
              <a:t>cost</a:t>
            </a:r>
            <a:r>
              <a:rPr lang="de-DE" sz="1400" dirty="0">
                <a:solidFill>
                  <a:prstClr val="black"/>
                </a:solidFill>
                <a:latin typeface="Arial"/>
              </a:rPr>
              <a:t>: 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D5FA9D5-F095-5073-4DD8-D85F81BCD8C5}"/>
              </a:ext>
            </a:extLst>
          </p:cNvPr>
          <p:cNvSpPr txBox="1"/>
          <p:nvPr/>
        </p:nvSpPr>
        <p:spPr>
          <a:xfrm>
            <a:off x="9032206" y="3111989"/>
            <a:ext cx="1236675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task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2: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400" dirty="0" err="1">
                <a:solidFill>
                  <a:prstClr val="black"/>
                </a:solidFill>
                <a:latin typeface="Arial"/>
              </a:rPr>
              <a:t>cost</a:t>
            </a:r>
            <a:r>
              <a:rPr lang="de-DE" sz="1400" dirty="0">
                <a:solidFill>
                  <a:prstClr val="black"/>
                </a:solidFill>
                <a:latin typeface="Arial"/>
              </a:rPr>
              <a:t>: 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Gewitterblitz 24">
            <a:extLst>
              <a:ext uri="{FF2B5EF4-FFF2-40B4-BE49-F238E27FC236}">
                <a16:creationId xmlns:a16="http://schemas.microsoft.com/office/drawing/2014/main" id="{F23693EF-13DE-8606-8C16-4C86B0E6C3B5}"/>
              </a:ext>
            </a:extLst>
          </p:cNvPr>
          <p:cNvSpPr/>
          <p:nvPr/>
        </p:nvSpPr>
        <p:spPr>
          <a:xfrm>
            <a:off x="5881205" y="2536382"/>
            <a:ext cx="560279" cy="732689"/>
          </a:xfrm>
          <a:prstGeom prst="lightningBol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015A0C9-65B2-C362-5FB6-E701E64FC726}"/>
              </a:ext>
            </a:extLst>
          </p:cNvPr>
          <p:cNvSpPr txBox="1"/>
          <p:nvPr/>
        </p:nvSpPr>
        <p:spPr>
          <a:xfrm>
            <a:off x="5371248" y="2080808"/>
            <a:ext cx="1143537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harvested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energy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5FDC43CF-A999-1D18-7AC5-A8ED2F17A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22" y="5083864"/>
            <a:ext cx="4626492" cy="58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026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7EB3AC-6569-4142-84A6-00A3DA66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fld id="{499CC872-C2E8-4C73-9CC7-648F3E3EC96E}" type="datetime4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28. November 2025</a:t>
            </a:fld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>
                <a:latin typeface="FAUSans Office" panose="020B0504010101010104" pitchFamily="34" charset="77"/>
                <a:cs typeface="FAUSans Office" panose="020B0504010101010104" pitchFamily="34" charset="77"/>
              </a:rPr>
              <a:t>Technische Fakultät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3546" y="6634666"/>
            <a:ext cx="62517" cy="123111"/>
          </a:xfrm>
        </p:spPr>
        <p:txBody>
          <a:bodyPr/>
          <a:lstStyle/>
          <a:p>
            <a:fld id="{D949F9DF-37BD-4CD6-BF49-65BA579E1D7A}" type="slidenum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8</a:t>
            </a:fld>
            <a:endParaRPr lang="de-DE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B28E489-36E7-42B6-94D2-8D55BD2E1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Graph Model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dealing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with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transpositions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2DCEF90-E6E1-D2C7-1E98-216CBA7A4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446" y="1647365"/>
            <a:ext cx="3708803" cy="4636003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190D731-C070-203A-3C7A-45464ADF4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82" y="1647365"/>
            <a:ext cx="4258203" cy="4383444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4F09D74B-2122-A03C-A594-007E3B0FB7D1}"/>
              </a:ext>
            </a:extLst>
          </p:cNvPr>
          <p:cNvSpPr txBox="1"/>
          <p:nvPr/>
        </p:nvSpPr>
        <p:spPr>
          <a:xfrm>
            <a:off x="1953890" y="2015398"/>
            <a:ext cx="2051221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=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400" dirty="0">
                <a:solidFill>
                  <a:prstClr val="black"/>
                </a:solidFill>
                <a:latin typeface="Arial"/>
              </a:rPr>
              <a:t>b = 20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1B06C8D-0114-DFA0-00DF-884C635CD2DD}"/>
              </a:ext>
            </a:extLst>
          </p:cNvPr>
          <p:cNvSpPr txBox="1"/>
          <p:nvPr/>
        </p:nvSpPr>
        <p:spPr>
          <a:xfrm>
            <a:off x="3078355" y="3329333"/>
            <a:ext cx="2051221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= i+1</a:t>
            </a: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400" dirty="0">
                <a:solidFill>
                  <a:prstClr val="black"/>
                </a:solidFill>
                <a:latin typeface="Arial"/>
              </a:rPr>
              <a:t>b = 22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9E64504-F115-5FB6-671F-E3BDD83E25C5}"/>
              </a:ext>
            </a:extLst>
          </p:cNvPr>
          <p:cNvSpPr txBox="1"/>
          <p:nvPr/>
        </p:nvSpPr>
        <p:spPr>
          <a:xfrm>
            <a:off x="8568874" y="3481733"/>
            <a:ext cx="2051221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= i+1</a:t>
            </a: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400" dirty="0">
                <a:solidFill>
                  <a:prstClr val="black"/>
                </a:solidFill>
                <a:latin typeface="Arial"/>
              </a:rPr>
              <a:t>b = 22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A4B84BC-406C-467A-B385-731533AF0141}"/>
              </a:ext>
            </a:extLst>
          </p:cNvPr>
          <p:cNvSpPr txBox="1"/>
          <p:nvPr/>
        </p:nvSpPr>
        <p:spPr>
          <a:xfrm>
            <a:off x="874734" y="3341690"/>
            <a:ext cx="2051221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= i+1</a:t>
            </a: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400" dirty="0">
                <a:solidFill>
                  <a:prstClr val="black"/>
                </a:solidFill>
                <a:latin typeface="Arial"/>
              </a:rPr>
              <a:t>b = 19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A8557D7-5276-0737-EDE2-B47BDC2171B0}"/>
              </a:ext>
            </a:extLst>
          </p:cNvPr>
          <p:cNvSpPr txBox="1"/>
          <p:nvPr/>
        </p:nvSpPr>
        <p:spPr>
          <a:xfrm>
            <a:off x="6348777" y="3494090"/>
            <a:ext cx="2051221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= i+1</a:t>
            </a: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400" dirty="0">
                <a:solidFill>
                  <a:prstClr val="black"/>
                </a:solidFill>
                <a:latin typeface="Arial"/>
              </a:rPr>
              <a:t>b = 19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9B4EB27-2482-BB80-E732-6C8383FB695A}"/>
              </a:ext>
            </a:extLst>
          </p:cNvPr>
          <p:cNvSpPr txBox="1"/>
          <p:nvPr/>
        </p:nvSpPr>
        <p:spPr>
          <a:xfrm>
            <a:off x="7444409" y="2126609"/>
            <a:ext cx="2051221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=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400" dirty="0">
                <a:solidFill>
                  <a:prstClr val="black"/>
                </a:solidFill>
                <a:latin typeface="Arial"/>
              </a:rPr>
              <a:t>b = 20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E226F5B-B044-821E-9BFF-5F7B1D2DF07B}"/>
              </a:ext>
            </a:extLst>
          </p:cNvPr>
          <p:cNvSpPr txBox="1"/>
          <p:nvPr/>
        </p:nvSpPr>
        <p:spPr>
          <a:xfrm>
            <a:off x="3064367" y="4927474"/>
            <a:ext cx="2051221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= i+2</a:t>
            </a: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400" dirty="0">
                <a:solidFill>
                  <a:prstClr val="black"/>
                </a:solidFill>
                <a:latin typeface="Arial"/>
              </a:rPr>
              <a:t>b = 20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4876285-CF73-AAB6-224C-4A4E553E4885}"/>
              </a:ext>
            </a:extLst>
          </p:cNvPr>
          <p:cNvSpPr txBox="1"/>
          <p:nvPr/>
        </p:nvSpPr>
        <p:spPr>
          <a:xfrm>
            <a:off x="893697" y="4915117"/>
            <a:ext cx="2051221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= i+2</a:t>
            </a: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400" dirty="0">
                <a:solidFill>
                  <a:prstClr val="black"/>
                </a:solidFill>
                <a:latin typeface="Arial"/>
              </a:rPr>
              <a:t>b = 20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26539D31-63BC-27D1-C2F7-5B57DAA070FB}"/>
              </a:ext>
            </a:extLst>
          </p:cNvPr>
          <p:cNvSpPr txBox="1"/>
          <p:nvPr/>
        </p:nvSpPr>
        <p:spPr>
          <a:xfrm>
            <a:off x="7442778" y="5030447"/>
            <a:ext cx="2051221" cy="4555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= i+2</a:t>
            </a:r>
          </a:p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400" dirty="0">
                <a:solidFill>
                  <a:prstClr val="black"/>
                </a:solidFill>
                <a:latin typeface="Arial"/>
              </a:rPr>
              <a:t>b = 20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Pfeil: nach rechts 28">
            <a:extLst>
              <a:ext uri="{FF2B5EF4-FFF2-40B4-BE49-F238E27FC236}">
                <a16:creationId xmlns:a16="http://schemas.microsoft.com/office/drawing/2014/main" id="{492EAE10-757F-E5BC-228E-68D0F1B4DFDC}"/>
              </a:ext>
            </a:extLst>
          </p:cNvPr>
          <p:cNvSpPr/>
          <p:nvPr/>
        </p:nvSpPr>
        <p:spPr>
          <a:xfrm>
            <a:off x="5156885" y="3494090"/>
            <a:ext cx="1464561" cy="575402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368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7EB3AC-6569-4142-84A6-00A3DA66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fld id="{499CC872-C2E8-4C73-9CC7-648F3E3EC96E}" type="datetime4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28. November 2025</a:t>
            </a:fld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>
                <a:latin typeface="FAUSans Office" panose="020B0504010101010104" pitchFamily="34" charset="77"/>
                <a:cs typeface="FAUSans Office" panose="020B0504010101010104" pitchFamily="34" charset="77"/>
              </a:rPr>
              <a:t>Technische Fakultät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3546" y="6634666"/>
            <a:ext cx="62517" cy="123111"/>
          </a:xfrm>
        </p:spPr>
        <p:txBody>
          <a:bodyPr/>
          <a:lstStyle/>
          <a:p>
            <a:fld id="{D949F9DF-37BD-4CD6-BF49-65BA579E1D7A}" type="slidenum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9</a:t>
            </a:fld>
            <a:endParaRPr lang="de-DE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B28E489-36E7-42B6-94D2-8D55BD2E1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Graph Model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C44F40D-C52B-C077-AB92-92DB0DB231D1}"/>
              </a:ext>
            </a:extLst>
          </p:cNvPr>
          <p:cNvSpPr txBox="1"/>
          <p:nvPr/>
        </p:nvSpPr>
        <p:spPr>
          <a:xfrm>
            <a:off x="6466703" y="2487239"/>
            <a:ext cx="4603146" cy="3186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600" b="1" dirty="0">
                <a:solidFill>
                  <a:prstClr val="black"/>
                </a:solidFill>
                <a:latin typeface="Arial"/>
              </a:rPr>
              <a:t>Problem: </a:t>
            </a:r>
          </a:p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find path from root (timeslot 0) to a leaf (timeslot K) with highest sum of quality of tasks on the path</a:t>
            </a:r>
          </a:p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1600" dirty="0">
              <a:solidFill>
                <a:prstClr val="black"/>
              </a:solidFill>
              <a:latin typeface="Arial"/>
            </a:endParaRPr>
          </a:p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 topological sorting to get the same result as dynamic programming</a:t>
            </a:r>
          </a:p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1600" dirty="0">
              <a:solidFill>
                <a:prstClr val="black"/>
              </a:solidFill>
              <a:latin typeface="Arial"/>
            </a:endParaRPr>
          </a:p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but: building the graph also takes time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EC22DAC-6388-EB2D-7185-541C424BA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19" y="1577218"/>
            <a:ext cx="5972712" cy="433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36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7EB3AC-6569-4142-84A6-00A3DA66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fld id="{499CC872-C2E8-4C73-9CC7-648F3E3EC96E}" type="datetime4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28. November 2025</a:t>
            </a:fld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>
                <a:latin typeface="FAUSans Office" panose="020B0504010101010104" pitchFamily="34" charset="77"/>
                <a:cs typeface="FAUSans Office" panose="020B0504010101010104" pitchFamily="34" charset="77"/>
              </a:rPr>
              <a:t>Technische Fakultät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3546" y="6634666"/>
            <a:ext cx="62517" cy="123111"/>
          </a:xfrm>
        </p:spPr>
        <p:txBody>
          <a:bodyPr/>
          <a:lstStyle/>
          <a:p>
            <a:fld id="{D949F9DF-37BD-4CD6-BF49-65BA579E1D7A}" type="slidenum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10</a:t>
            </a:fld>
            <a:endParaRPr lang="de-DE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B28E489-36E7-42B6-94D2-8D55BD2E1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random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sampling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based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algorithm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for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building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a game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tree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and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finding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good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paths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/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nodes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Monte Carlo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Tree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Search (MCTS)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C130D32-8FF7-2DD1-07E4-88B48841A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29" y="2989440"/>
            <a:ext cx="2114845" cy="160042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6908A06-C99B-FCC6-3A15-3ACB6ED82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86" y="3092181"/>
            <a:ext cx="2429214" cy="2553056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0DC4A017-F993-EC2C-9163-3EF8288A4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711" y="2989440"/>
            <a:ext cx="2467319" cy="2972215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971E177A-6561-0F54-36AF-23FF5AD69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3766" y="2992154"/>
            <a:ext cx="2610214" cy="2753109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FD6F6F57-B61E-37B1-02B2-540A53CB4F69}"/>
              </a:ext>
            </a:extLst>
          </p:cNvPr>
          <p:cNvSpPr txBox="1"/>
          <p:nvPr/>
        </p:nvSpPr>
        <p:spPr>
          <a:xfrm>
            <a:off x="1202724" y="2555549"/>
            <a:ext cx="1845276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Selection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CC56EC8-FF08-B096-682A-B9E7BCEE8770}"/>
              </a:ext>
            </a:extLst>
          </p:cNvPr>
          <p:cNvSpPr txBox="1"/>
          <p:nvPr/>
        </p:nvSpPr>
        <p:spPr>
          <a:xfrm>
            <a:off x="3958755" y="2555549"/>
            <a:ext cx="1845276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Expansion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D2F2DEE3-A25C-39EA-43AA-A187CBFA188F}"/>
              </a:ext>
            </a:extLst>
          </p:cNvPr>
          <p:cNvSpPr txBox="1"/>
          <p:nvPr/>
        </p:nvSpPr>
        <p:spPr>
          <a:xfrm>
            <a:off x="6714786" y="2555549"/>
            <a:ext cx="1845276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Simulation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14AD95F-98E3-CD0E-0617-281984E9B75C}"/>
              </a:ext>
            </a:extLst>
          </p:cNvPr>
          <p:cNvSpPr txBox="1"/>
          <p:nvPr/>
        </p:nvSpPr>
        <p:spPr>
          <a:xfrm>
            <a:off x="9666235" y="2533993"/>
            <a:ext cx="1845276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600" b="1" dirty="0">
                <a:solidFill>
                  <a:prstClr val="black"/>
                </a:solidFill>
                <a:latin typeface="Arial"/>
              </a:rPr>
              <a:t>Backpropagation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3CAEF6C-DDF7-010F-1A5F-C1C43C6FFD59}"/>
              </a:ext>
            </a:extLst>
          </p:cNvPr>
          <p:cNvSpPr txBox="1"/>
          <p:nvPr/>
        </p:nvSpPr>
        <p:spPr>
          <a:xfrm>
            <a:off x="980443" y="4022263"/>
            <a:ext cx="724930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4EA9C38-B5A2-EF6E-9F19-72E8A9EE2C93}"/>
              </a:ext>
            </a:extLst>
          </p:cNvPr>
          <p:cNvSpPr txBox="1"/>
          <p:nvPr/>
        </p:nvSpPr>
        <p:spPr>
          <a:xfrm>
            <a:off x="2767913" y="4013214"/>
            <a:ext cx="1012767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E53694D-A265-B670-C2B9-94E8C40AE914}"/>
              </a:ext>
            </a:extLst>
          </p:cNvPr>
          <p:cNvSpPr txBox="1"/>
          <p:nvPr/>
        </p:nvSpPr>
        <p:spPr>
          <a:xfrm>
            <a:off x="2026508" y="3245708"/>
            <a:ext cx="807308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7AABE52-CF80-069D-B5AB-5D261342D4BB}"/>
              </a:ext>
            </a:extLst>
          </p:cNvPr>
          <p:cNvSpPr txBox="1"/>
          <p:nvPr/>
        </p:nvSpPr>
        <p:spPr>
          <a:xfrm>
            <a:off x="9819502" y="5025081"/>
            <a:ext cx="1235676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A73BCB2-59DD-D808-B1AB-36E1F3BD825C}"/>
              </a:ext>
            </a:extLst>
          </p:cNvPr>
          <p:cNvSpPr txBox="1"/>
          <p:nvPr/>
        </p:nvSpPr>
        <p:spPr>
          <a:xfrm>
            <a:off x="9819503" y="3995352"/>
            <a:ext cx="1375719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3C0AB09-4233-359D-6B26-99DA43365641}"/>
              </a:ext>
            </a:extLst>
          </p:cNvPr>
          <p:cNvSpPr txBox="1"/>
          <p:nvPr/>
        </p:nvSpPr>
        <p:spPr>
          <a:xfrm>
            <a:off x="10564783" y="3231550"/>
            <a:ext cx="1833163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C39DCAB-39AC-F15D-7710-B66DA8D83E38}"/>
              </a:ext>
            </a:extLst>
          </p:cNvPr>
          <p:cNvSpPr txBox="1"/>
          <p:nvPr/>
        </p:nvSpPr>
        <p:spPr>
          <a:xfrm>
            <a:off x="11302313" y="3997669"/>
            <a:ext cx="1357559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C6EBEC0-27E5-F2FE-6175-EF0C0035AE8D}"/>
              </a:ext>
            </a:extLst>
          </p:cNvPr>
          <p:cNvSpPr txBox="1"/>
          <p:nvPr/>
        </p:nvSpPr>
        <p:spPr>
          <a:xfrm>
            <a:off x="6862119" y="6017111"/>
            <a:ext cx="741406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pic>
        <p:nvPicPr>
          <p:cNvPr id="19" name="Picture 4" descr="Monte Carlo Tree Search: Implementing Reinforcement Learning in Real-Time  Game Player Part 2 | Towards Data Science">
            <a:extLst>
              <a:ext uri="{FF2B5EF4-FFF2-40B4-BE49-F238E27FC236}">
                <a16:creationId xmlns:a16="http://schemas.microsoft.com/office/drawing/2014/main" id="{EE71C237-715A-3E1C-D94D-850787F9B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555" y="4678979"/>
            <a:ext cx="1386942" cy="966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BED2842B-89EE-8134-81CD-86E4C281E656}"/>
              </a:ext>
            </a:extLst>
          </p:cNvPr>
          <p:cNvSpPr txBox="1"/>
          <p:nvPr/>
        </p:nvSpPr>
        <p:spPr>
          <a:xfrm>
            <a:off x="884991" y="5033319"/>
            <a:ext cx="1919482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UCT(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) =</a:t>
            </a:r>
          </a:p>
        </p:txBody>
      </p:sp>
    </p:spTree>
    <p:extLst>
      <p:ext uri="{BB962C8B-B14F-4D97-AF65-F5344CB8AC3E}">
        <p14:creationId xmlns:p14="http://schemas.microsoft.com/office/powerpoint/2010/main" val="30497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7EB3AC-6569-4142-84A6-00A3DA66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fld id="{499CC872-C2E8-4C73-9CC7-648F3E3EC96E}" type="datetime4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28. November 2025</a:t>
            </a:fld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>
                <a:latin typeface="FAUSans Office" panose="020B0504010101010104" pitchFamily="34" charset="77"/>
                <a:cs typeface="FAUSans Office" panose="020B0504010101010104" pitchFamily="34" charset="77"/>
              </a:rPr>
              <a:t>Technische Fakultät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3546" y="6634666"/>
            <a:ext cx="62517" cy="123111"/>
          </a:xfrm>
        </p:spPr>
        <p:txBody>
          <a:bodyPr/>
          <a:lstStyle/>
          <a:p>
            <a:fld id="{D949F9DF-37BD-4CD6-BF49-65BA579E1D7A}" type="slidenum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11</a:t>
            </a:fld>
            <a:endParaRPr lang="de-DE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B28E489-36E7-42B6-94D2-8D55BD2E1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>
            <a:normAutofit/>
          </a:bodyPr>
          <a:lstStyle/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Model </a:t>
            </a:r>
            <a:r>
              <a:rPr lang="de-DE" dirty="0" err="1"/>
              <a:t>is</a:t>
            </a:r>
            <a:r>
              <a:rPr lang="de-DE" dirty="0"/>
              <a:t> a DAG, not a </a:t>
            </a:r>
            <a:r>
              <a:rPr lang="de-DE" dirty="0" err="1"/>
              <a:t>tree</a:t>
            </a:r>
            <a:r>
              <a:rPr lang="de-DE" dirty="0"/>
              <a:t> -&gt; </a:t>
            </a:r>
            <a:r>
              <a:rPr lang="de-DE" dirty="0" err="1"/>
              <a:t>memorize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path</a:t>
            </a:r>
            <a:r>
              <a:rPr lang="de-DE" dirty="0"/>
              <a:t> </a:t>
            </a:r>
            <a:r>
              <a:rPr lang="de-DE" dirty="0" err="1"/>
              <a:t>taken</a:t>
            </a:r>
            <a:r>
              <a:rPr lang="de-DE" dirty="0"/>
              <a:t> in </a:t>
            </a:r>
            <a:r>
              <a:rPr lang="de-DE" dirty="0" err="1"/>
              <a:t>selection</a:t>
            </a:r>
            <a:r>
              <a:rPr lang="de-DE" dirty="0"/>
              <a:t>/</a:t>
            </a:r>
            <a:r>
              <a:rPr lang="de-DE" dirty="0" err="1"/>
              <a:t>expansion</a:t>
            </a:r>
            <a:r>
              <a:rPr lang="de-DE" dirty="0"/>
              <a:t> and </a:t>
            </a:r>
            <a:r>
              <a:rPr lang="de-DE" dirty="0" err="1"/>
              <a:t>backpropagate</a:t>
            </a:r>
            <a:r>
              <a:rPr lang="de-DE" dirty="0"/>
              <a:t> </a:t>
            </a:r>
            <a:r>
              <a:rPr lang="de-DE" dirty="0" err="1"/>
              <a:t>along</a:t>
            </a:r>
            <a:r>
              <a:rPr lang="de-DE" dirty="0"/>
              <a:t> </a:t>
            </a:r>
            <a:r>
              <a:rPr lang="de-DE" dirty="0" err="1"/>
              <a:t>it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Final </a:t>
            </a:r>
            <a:r>
              <a:rPr lang="de-DE" dirty="0" err="1"/>
              <a:t>solution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taken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 </a:t>
            </a:r>
            <a:r>
              <a:rPr lang="de-DE" dirty="0" err="1"/>
              <a:t>selection</a:t>
            </a:r>
            <a:r>
              <a:rPr lang="de-DE" dirty="0"/>
              <a:t>/</a:t>
            </a:r>
            <a:r>
              <a:rPr lang="de-DE" dirty="0" err="1"/>
              <a:t>expansion</a:t>
            </a:r>
            <a:r>
              <a:rPr lang="de-DE" dirty="0"/>
              <a:t>/</a:t>
            </a:r>
            <a:r>
              <a:rPr lang="de-DE" dirty="0" err="1"/>
              <a:t>simulation</a:t>
            </a:r>
            <a:r>
              <a:rPr lang="de-DE" dirty="0"/>
              <a:t> </a:t>
            </a:r>
            <a:r>
              <a:rPr lang="de-DE" dirty="0" err="1"/>
              <a:t>path</a:t>
            </a:r>
            <a:r>
              <a:rPr lang="de-DE" dirty="0"/>
              <a:t> -&gt; </a:t>
            </a:r>
            <a:r>
              <a:rPr lang="de-DE" dirty="0" err="1"/>
              <a:t>always</a:t>
            </a:r>
            <a:r>
              <a:rPr lang="de-DE" dirty="0"/>
              <a:t> save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path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was </a:t>
            </a:r>
            <a:r>
              <a:rPr lang="de-DE" dirty="0" err="1"/>
              <a:t>explored</a:t>
            </a:r>
            <a:endParaRPr lang="de-DE" dirty="0"/>
          </a:p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Simulation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quality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,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path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energy</a:t>
            </a:r>
            <a:r>
              <a:rPr lang="de-DE" dirty="0"/>
              <a:t> neutral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2 </a:t>
            </a:r>
            <a:r>
              <a:rPr lang="de-DE" dirty="0" err="1"/>
              <a:t>options</a:t>
            </a:r>
            <a:r>
              <a:rPr lang="de-DE" dirty="0"/>
              <a:t>: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„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discard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path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“ and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backpropagate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0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penalize</a:t>
            </a:r>
            <a:r>
              <a:rPr lang="de-DE" dirty="0"/>
              <a:t> </a:t>
            </a:r>
            <a:r>
              <a:rPr lang="de-DE" dirty="0" err="1"/>
              <a:t>quality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and </a:t>
            </a:r>
            <a:r>
              <a:rPr lang="de-DE" dirty="0" err="1"/>
              <a:t>backpropagate</a:t>
            </a:r>
            <a:r>
              <a:rPr lang="de-DE" dirty="0"/>
              <a:t> </a:t>
            </a:r>
            <a:r>
              <a:rPr lang="de-DE" dirty="0" err="1"/>
              <a:t>it</a:t>
            </a:r>
            <a:endParaRPr lang="de-DE" dirty="0"/>
          </a:p>
          <a:p>
            <a:pPr marL="465750" lvl="1" indent="-285750">
              <a:buFont typeface="Arial" panose="020B0604020202020204" pitchFamily="34" charset="0"/>
              <a:buChar char="•"/>
            </a:pP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nodes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battery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below</a:t>
            </a:r>
            <a:r>
              <a:rPr lang="de-DE" dirty="0"/>
              <a:t> </a:t>
            </a:r>
            <a:r>
              <a:rPr lang="de-DE" dirty="0" err="1"/>
              <a:t>minimum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created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/>
              <a:t>Monte Carlo </a:t>
            </a:r>
            <a:r>
              <a:rPr lang="de-DE" dirty="0" err="1"/>
              <a:t>Tree</a:t>
            </a:r>
            <a:r>
              <a:rPr lang="de-DE" dirty="0"/>
              <a:t> Search (MCTS)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Problem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Specific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Adaptation</a:t>
            </a:r>
          </a:p>
        </p:txBody>
      </p:sp>
    </p:spTree>
    <p:extLst>
      <p:ext uri="{BB962C8B-B14F-4D97-AF65-F5344CB8AC3E}">
        <p14:creationId xmlns:p14="http://schemas.microsoft.com/office/powerpoint/2010/main" val="899909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2BDE70CE-CF25-4CE6-B28A-B3871B90A4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fld id="{C8D89E98-54A4-43F9-9249-7D6B5CD88EDB}" type="datetime4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28. November 2025</a:t>
            </a:fld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95F60E9-1E76-43F3-8365-6C969F9DA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>
                <a:latin typeface="FAUSans Office" panose="020B0504010101010104" pitchFamily="34" charset="77"/>
                <a:cs typeface="FAUSans Office" panose="020B0504010101010104" pitchFamily="34" charset="77"/>
              </a:rPr>
              <a:t>Technische Fakultät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7BC3FCE-392F-4A16-87A0-BDE8D7DF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1029" y="6634666"/>
            <a:ext cx="125034" cy="123111"/>
          </a:xfrm>
        </p:spPr>
        <p:txBody>
          <a:bodyPr/>
          <a:lstStyle/>
          <a:p>
            <a:fld id="{D949F9DF-37BD-4CD6-BF49-65BA579E1D7A}" type="slidenum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12</a:t>
            </a:fld>
            <a:endParaRPr lang="de-DE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FA6ADD3-E70C-46ED-983A-BEFB04690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/>
              <a:t>Simulation </a:t>
            </a:r>
            <a:r>
              <a:rPr lang="de-DE" dirty="0" err="1"/>
              <a:t>Results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38F69D4-37EF-490A-8363-87A30453BBF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r>
              <a:rPr lang="de-DE" dirty="0" err="1"/>
              <a:t>Amount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Iterations</a:t>
            </a:r>
            <a:r>
              <a:rPr lang="de-DE" dirty="0"/>
              <a:t> and Quality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DAEDFDE-21E6-09E9-A9C5-23E59B5CF56B}"/>
              </a:ext>
            </a:extLst>
          </p:cNvPr>
          <p:cNvSpPr txBox="1"/>
          <p:nvPr/>
        </p:nvSpPr>
        <p:spPr>
          <a:xfrm>
            <a:off x="8583828" y="1400790"/>
            <a:ext cx="2405448" cy="48479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Results of 100 iterations: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average quality &gt;95% of linear programming</a:t>
            </a:r>
            <a:endParaRPr lang="en-US" sz="1600" dirty="0">
              <a:solidFill>
                <a:prstClr val="black"/>
              </a:solidFill>
              <a:latin typeface="Arial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average battery remaining 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~2% higher than necessary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600" b="1" dirty="0">
                <a:solidFill>
                  <a:prstClr val="black"/>
                </a:solidFill>
                <a:latin typeface="Arial"/>
              </a:rPr>
              <a:t>Simulation setup: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 = 24 timeslots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600" dirty="0">
                <a:solidFill>
                  <a:prstClr val="black"/>
                </a:solidFill>
                <a:latin typeface="Arial"/>
              </a:rPr>
              <a:t>         = 10,           = 20, 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600" dirty="0">
                <a:solidFill>
                  <a:prstClr val="black"/>
                </a:solidFill>
                <a:latin typeface="Arial"/>
              </a:rPr>
              <a:t>         = 30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600" dirty="0">
                <a:solidFill>
                  <a:prstClr val="black"/>
                </a:solidFill>
                <a:latin typeface="Arial"/>
              </a:rPr>
              <a:t>exponential penalty,	   UCT formula for selection,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600" dirty="0">
                <a:solidFill>
                  <a:prstClr val="black"/>
                </a:solidFill>
                <a:latin typeface="Arial"/>
              </a:rPr>
              <a:t>100 repetitions / data point</a:t>
            </a:r>
          </a:p>
        </p:txBody>
      </p: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BCBAAD37-0D31-615B-2CC4-D3CDF2AD1C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4645025"/>
              </p:ext>
            </p:extLst>
          </p:nvPr>
        </p:nvGraphicFramePr>
        <p:xfrm>
          <a:off x="584885" y="1377949"/>
          <a:ext cx="7603525" cy="5047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E99B8C60-32E8-E6E5-8B88-0CDAE37E5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638" y="4838301"/>
            <a:ext cx="494270" cy="30510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F31FACA-3EA2-E4A4-9D4F-B5C683292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1" y="4534955"/>
            <a:ext cx="494270" cy="31982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E7E7E5F-45D2-25F0-99DF-E14C5609F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511" y="4559393"/>
            <a:ext cx="560171" cy="32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589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89C6D-3B4E-5414-8C97-3F8642B4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D6961E0E-A9F5-069F-269E-F99D433651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fld id="{0FB5BED2-9D67-4633-8F70-D6C5D8124185}" type="datetime4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28. November 2025</a:t>
            </a:fld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87835AC-480C-C36A-E3FD-382A4DF78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>
                <a:latin typeface="FAUSans Office" panose="020B0504010101010104" pitchFamily="34" charset="77"/>
                <a:cs typeface="FAUSans Office" panose="020B0504010101010104" pitchFamily="34" charset="77"/>
              </a:rPr>
              <a:t>Technische Fakultät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0E3F548-8323-3FA2-2CB9-9B361590C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1029" y="6634666"/>
            <a:ext cx="125034" cy="123111"/>
          </a:xfrm>
        </p:spPr>
        <p:txBody>
          <a:bodyPr/>
          <a:lstStyle/>
          <a:p>
            <a:fld id="{D949F9DF-37BD-4CD6-BF49-65BA579E1D7A}" type="slidenum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13</a:t>
            </a:fld>
            <a:endParaRPr lang="de-DE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33D7360-DC40-0928-6AC0-C287545D7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Simulation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Results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066B4F-8DED-9E4F-AA07-A16425A75E5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/>
          <a:lstStyle/>
          <a:p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increasing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graph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depth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(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timeslots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K)</a:t>
            </a:r>
          </a:p>
          <a:p>
            <a:r>
              <a:rPr lang="de-DE" dirty="0"/>
              <a:t>              = 30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4AC24CA-1303-204D-EE44-33A8830661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511131" y="5704672"/>
            <a:ext cx="5469732" cy="511084"/>
          </a:xfrm>
        </p:spPr>
        <p:txBody>
          <a:bodyPr/>
          <a:lstStyle/>
          <a:p>
            <a:r>
              <a:rPr lang="de-DE" dirty="0" err="1"/>
              <a:t>increasing</a:t>
            </a:r>
            <a:r>
              <a:rPr lang="de-DE" dirty="0"/>
              <a:t> </a:t>
            </a:r>
            <a:r>
              <a:rPr lang="de-DE" dirty="0" err="1"/>
              <a:t>branching</a:t>
            </a:r>
            <a:r>
              <a:rPr lang="de-DE" dirty="0"/>
              <a:t> </a:t>
            </a:r>
            <a:r>
              <a:rPr lang="de-DE" dirty="0" err="1"/>
              <a:t>factor</a:t>
            </a:r>
            <a:r>
              <a:rPr lang="de-DE" dirty="0"/>
              <a:t> (</a:t>
            </a:r>
            <a:r>
              <a:rPr lang="de-DE" dirty="0" err="1"/>
              <a:t>battery</a:t>
            </a:r>
            <a:r>
              <a:rPr lang="de-DE" dirty="0"/>
              <a:t> </a:t>
            </a:r>
            <a:r>
              <a:rPr lang="de-DE" dirty="0" err="1"/>
              <a:t>slots</a:t>
            </a:r>
            <a:r>
              <a:rPr lang="de-DE" dirty="0"/>
              <a:t>,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, </a:t>
            </a:r>
            <a:r>
              <a:rPr lang="de-DE" dirty="0" err="1"/>
              <a:t>energy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)</a:t>
            </a:r>
          </a:p>
          <a:p>
            <a:r>
              <a:rPr lang="de-DE" dirty="0"/>
              <a:t>K = 24</a:t>
            </a:r>
          </a:p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F425530-6D4B-06A3-1578-8C2560257AF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Amount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of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Iterations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needed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for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full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solution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C5F56059-7DA8-1BD1-7C51-E3E08771B7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9989976"/>
              </p:ext>
            </p:extLst>
          </p:nvPr>
        </p:nvGraphicFramePr>
        <p:xfrm>
          <a:off x="517525" y="1617920"/>
          <a:ext cx="5636141" cy="3622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agramm 10">
            <a:extLst>
              <a:ext uri="{FF2B5EF4-FFF2-40B4-BE49-F238E27FC236}">
                <a16:creationId xmlns:a16="http://schemas.microsoft.com/office/drawing/2014/main" id="{0DC4F0BF-2CA1-7554-A277-8272EB86B5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0542055"/>
              </p:ext>
            </p:extLst>
          </p:nvPr>
        </p:nvGraphicFramePr>
        <p:xfrm>
          <a:off x="6345746" y="1620399"/>
          <a:ext cx="5401411" cy="3643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3" name="Grafik 12">
            <a:extLst>
              <a:ext uri="{FF2B5EF4-FFF2-40B4-BE49-F238E27FC236}">
                <a16:creationId xmlns:a16="http://schemas.microsoft.com/office/drawing/2014/main" id="{C08A062A-ADA8-787E-9E08-068661033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821" y="5904646"/>
            <a:ext cx="484671" cy="29917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943B9CDF-2E39-E853-CDA0-B57CFA4E9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7425" y="5237601"/>
            <a:ext cx="567050" cy="35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46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7EB3AC-6569-4142-84A6-00A3DA66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fld id="{499CC872-C2E8-4C73-9CC7-648F3E3EC96E}" type="datetime4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28. November 2025</a:t>
            </a:fld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>
                <a:latin typeface="FAUSans Office" panose="020B0504010101010104" pitchFamily="34" charset="77"/>
                <a:cs typeface="FAUSans Office" panose="020B0504010101010104" pitchFamily="34" charset="77"/>
              </a:rPr>
              <a:t>Technische Fakultät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3546" y="6634666"/>
            <a:ext cx="62517" cy="123111"/>
          </a:xfrm>
        </p:spPr>
        <p:txBody>
          <a:bodyPr/>
          <a:lstStyle/>
          <a:p>
            <a:fld id="{D949F9DF-37BD-4CD6-BF49-65BA579E1D7A}" type="slidenum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14</a:t>
            </a:fld>
            <a:endParaRPr lang="de-DE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B28E489-36E7-42B6-94D2-8D55BD2E1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endParaRPr lang="de-DE" dirty="0"/>
          </a:p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endParaRPr lang="de-DE" dirty="0"/>
          </a:p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Problem 1: Exploration </a:t>
            </a:r>
            <a:r>
              <a:rPr lang="de-DE" dirty="0" err="1"/>
              <a:t>part</a:t>
            </a:r>
            <a:r>
              <a:rPr lang="de-DE" dirty="0"/>
              <a:t> was </a:t>
            </a:r>
            <a:r>
              <a:rPr lang="de-DE" dirty="0" err="1"/>
              <a:t>developed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0 and 1 -&gt; not </a:t>
            </a:r>
            <a:r>
              <a:rPr lang="de-DE" dirty="0" err="1"/>
              <a:t>sufficient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quality</a:t>
            </a:r>
            <a:r>
              <a:rPr lang="de-DE" dirty="0"/>
              <a:t> </a:t>
            </a:r>
            <a:r>
              <a:rPr lang="de-DE" dirty="0" err="1"/>
              <a:t>scores</a:t>
            </a:r>
            <a:endParaRPr lang="de-DE" dirty="0"/>
          </a:p>
          <a:p>
            <a:pPr marL="465750" lvl="1" indent="-285750">
              <a:buFont typeface="Wingdings" panose="05000000000000000000" pitchFamily="2" charset="2"/>
              <a:buChar char="Ø"/>
            </a:pPr>
            <a:r>
              <a:rPr lang="de-DE" dirty="0"/>
              <a:t>Solution: </a:t>
            </a:r>
            <a:r>
              <a:rPr lang="de-DE" dirty="0" err="1"/>
              <a:t>scaling</a:t>
            </a:r>
            <a:r>
              <a:rPr lang="de-DE" dirty="0"/>
              <a:t> </a:t>
            </a:r>
            <a:r>
              <a:rPr lang="de-DE" dirty="0" err="1"/>
              <a:t>qualities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exploration</a:t>
            </a:r>
            <a:r>
              <a:rPr lang="de-DE" dirty="0"/>
              <a:t> </a:t>
            </a:r>
            <a:r>
              <a:rPr lang="de-DE" dirty="0" err="1"/>
              <a:t>method</a:t>
            </a:r>
            <a:endParaRPr lang="de-DE" dirty="0"/>
          </a:p>
          <a:p>
            <a:pPr marL="465750" lvl="1" indent="-285750">
              <a:buFont typeface="Wingdings" panose="05000000000000000000" pitchFamily="2" charset="2"/>
              <a:buChar char="Ø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Problem 2: Square Root and </a:t>
            </a:r>
            <a:r>
              <a:rPr lang="de-DE" dirty="0" err="1"/>
              <a:t>Logarithm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slow, </a:t>
            </a:r>
            <a:r>
              <a:rPr lang="de-DE" dirty="0" err="1"/>
              <a:t>especially</a:t>
            </a:r>
            <a:r>
              <a:rPr lang="de-DE" dirty="0"/>
              <a:t> on </a:t>
            </a:r>
            <a:r>
              <a:rPr lang="de-DE" dirty="0" err="1"/>
              <a:t>targeted</a:t>
            </a:r>
            <a:r>
              <a:rPr lang="de-DE" dirty="0"/>
              <a:t> </a:t>
            </a:r>
            <a:r>
              <a:rPr lang="de-DE" dirty="0" err="1"/>
              <a:t>microcontroller</a:t>
            </a:r>
            <a:r>
              <a:rPr lang="de-DE" dirty="0"/>
              <a:t> (nRF52)</a:t>
            </a:r>
          </a:p>
          <a:p>
            <a:pPr marL="465750" lvl="1" indent="-285750">
              <a:buFont typeface="Wingdings" panose="05000000000000000000" pitchFamily="2" charset="2"/>
              <a:buChar char="Ø"/>
            </a:pPr>
            <a:r>
              <a:rPr lang="de-DE" dirty="0"/>
              <a:t>Solutions: </a:t>
            </a:r>
            <a:r>
              <a:rPr lang="de-DE" dirty="0" err="1"/>
              <a:t>avoid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,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lookup</a:t>
            </a:r>
            <a:r>
              <a:rPr lang="de-DE" dirty="0"/>
              <a:t> </a:t>
            </a:r>
            <a:r>
              <a:rPr lang="de-DE" dirty="0" err="1"/>
              <a:t>tables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Occuring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Problems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Problems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related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to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the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UCT Formula</a:t>
            </a:r>
          </a:p>
        </p:txBody>
      </p:sp>
      <p:pic>
        <p:nvPicPr>
          <p:cNvPr id="1028" name="Picture 4" descr="Monte Carlo Tree Search: Implementing Reinforcement Learning in Real-Time  Game Player Part 2 | Towards Data Science">
            <a:extLst>
              <a:ext uri="{FF2B5EF4-FFF2-40B4-BE49-F238E27FC236}">
                <a16:creationId xmlns:a16="http://schemas.microsoft.com/office/drawing/2014/main" id="{3F1DBCCC-A77B-B2C1-E0D9-DFFA1095F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691" y="1756848"/>
            <a:ext cx="20097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F021C7F7-4091-0508-F732-BCAB5BB181C0}"/>
              </a:ext>
            </a:extLst>
          </p:cNvPr>
          <p:cNvSpPr txBox="1"/>
          <p:nvPr/>
        </p:nvSpPr>
        <p:spPr>
          <a:xfrm>
            <a:off x="3739979" y="2273544"/>
            <a:ext cx="1919482" cy="3859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UCT(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) =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747359D-5653-28A0-B06A-C3A1804A5188}"/>
              </a:ext>
            </a:extLst>
          </p:cNvPr>
          <p:cNvSpPr/>
          <p:nvPr/>
        </p:nvSpPr>
        <p:spPr>
          <a:xfrm>
            <a:off x="4868691" y="1756847"/>
            <a:ext cx="592995" cy="1328469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79C0237-3A26-CE89-1792-DAECEBEE8702}"/>
              </a:ext>
            </a:extLst>
          </p:cNvPr>
          <p:cNvSpPr/>
          <p:nvPr/>
        </p:nvSpPr>
        <p:spPr>
          <a:xfrm>
            <a:off x="5716931" y="1756848"/>
            <a:ext cx="1161535" cy="13284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1A42659-706E-E7AC-78DF-5E815B93B237}"/>
              </a:ext>
            </a:extLst>
          </p:cNvPr>
          <p:cNvSpPr txBox="1"/>
          <p:nvPr/>
        </p:nvSpPr>
        <p:spPr>
          <a:xfrm>
            <a:off x="4257848" y="3103880"/>
            <a:ext cx="1730203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exploitation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27F54AD-85CA-1B01-25C9-808875E0EBB9}"/>
              </a:ext>
            </a:extLst>
          </p:cNvPr>
          <p:cNvSpPr txBox="1"/>
          <p:nvPr/>
        </p:nvSpPr>
        <p:spPr>
          <a:xfrm>
            <a:off x="6297698" y="3103880"/>
            <a:ext cx="1070919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exploration</a:t>
            </a:r>
          </a:p>
        </p:txBody>
      </p:sp>
    </p:spTree>
    <p:extLst>
      <p:ext uri="{BB962C8B-B14F-4D97-AF65-F5344CB8AC3E}">
        <p14:creationId xmlns:p14="http://schemas.microsoft.com/office/powerpoint/2010/main" val="1269788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CBB95-EE2E-7E55-A2B9-DDBA53AAA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C370A80-68B2-4901-7B4C-BEBEF39F16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fld id="{499CC872-C2E8-4C73-9CC7-648F3E3EC96E}" type="datetime4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28. November 2025</a:t>
            </a:fld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08EFBB-87DF-C579-CB3E-505196BB5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>
                <a:latin typeface="FAUSans Office" panose="020B0504010101010104" pitchFamily="34" charset="77"/>
                <a:cs typeface="FAUSans Office" panose="020B0504010101010104" pitchFamily="34" charset="77"/>
              </a:rPr>
              <a:t>Technische Fakultät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8FFE5C-D5EA-698B-D487-659692827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3546" y="6634666"/>
            <a:ext cx="62517" cy="123111"/>
          </a:xfrm>
        </p:spPr>
        <p:txBody>
          <a:bodyPr/>
          <a:lstStyle/>
          <a:p>
            <a:fld id="{D949F9DF-37BD-4CD6-BF49-65BA579E1D7A}" type="slidenum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15</a:t>
            </a:fld>
            <a:endParaRPr lang="de-DE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27D51A3-DEF5-5E91-2829-01E6BA57D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endParaRPr lang="de-DE" dirty="0"/>
          </a:p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endParaRPr lang="de-DE" dirty="0"/>
          </a:p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5C87332-DE96-7E52-F6DD-BD051390E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Completed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Tasks &amp; Next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Steps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02B5AC9-58E7-E048-3F85-CAC0EE88F87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AFC99683-2EA7-43A3-BCB1-E32040248A0F}"/>
              </a:ext>
            </a:extLst>
          </p:cNvPr>
          <p:cNvSpPr>
            <a:spLocks noGrp="1"/>
          </p:cNvSpPr>
          <p:nvPr/>
        </p:nvSpPr>
        <p:spPr>
          <a:xfrm>
            <a:off x="518319" y="1600124"/>
            <a:ext cx="5469732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9pPr>
          </a:lstStyle>
          <a:p>
            <a:r>
              <a:rPr lang="de-DE" b="1" dirty="0" err="1"/>
              <a:t>Completed</a:t>
            </a:r>
            <a:r>
              <a:rPr lang="de-DE" b="1" dirty="0"/>
              <a:t> Tasks</a:t>
            </a:r>
            <a:endParaRPr lang="de-DE" b="1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research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on WSN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energy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algorithms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research</a:t>
            </a:r>
            <a:r>
              <a:rPr lang="de-DE" dirty="0"/>
              <a:t> on MCTS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develop</a:t>
            </a:r>
            <a:r>
              <a:rPr lang="de-DE" dirty="0"/>
              <a:t> MCTS </a:t>
            </a:r>
            <a:r>
              <a:rPr lang="de-DE" dirty="0" err="1"/>
              <a:t>algorithm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WSN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conduct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tests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D559130C-68C1-4E01-870C-DC070590628B}"/>
              </a:ext>
            </a:extLst>
          </p:cNvPr>
          <p:cNvSpPr>
            <a:spLocks noGrp="1"/>
          </p:cNvSpPr>
          <p:nvPr/>
        </p:nvSpPr>
        <p:spPr>
          <a:xfrm>
            <a:off x="6205141" y="1600125"/>
            <a:ext cx="5469732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b="0" i="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9pPr>
          </a:lstStyle>
          <a:p>
            <a:r>
              <a:rPr lang="de-DE" b="1" dirty="0" err="1"/>
              <a:t>Remaining</a:t>
            </a:r>
            <a:r>
              <a:rPr lang="de-DE" b="1" dirty="0"/>
              <a:t> Tasks: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explore</a:t>
            </a:r>
            <a:r>
              <a:rPr lang="de-DE" dirty="0"/>
              <a:t>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optimizations</a:t>
            </a:r>
            <a:endParaRPr lang="de-DE" dirty="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reduce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 </a:t>
            </a:r>
            <a:r>
              <a:rPr lang="de-DE" dirty="0" err="1"/>
              <a:t>iterations</a:t>
            </a:r>
            <a:endParaRPr lang="de-DE" dirty="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reduce</a:t>
            </a:r>
            <a:r>
              <a:rPr lang="de-DE" dirty="0"/>
              <a:t> time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iteration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try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probabilistic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 </a:t>
            </a:r>
            <a:r>
              <a:rPr lang="de-DE" dirty="0" err="1"/>
              <a:t>harvesting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/>
              <a:t>MCTS </a:t>
            </a:r>
            <a:r>
              <a:rPr lang="de-DE" dirty="0" err="1"/>
              <a:t>supports</a:t>
            </a:r>
            <a:r>
              <a:rPr lang="de-DE" dirty="0"/>
              <a:t> </a:t>
            </a:r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parameters</a:t>
            </a:r>
            <a:endParaRPr lang="de-DE" dirty="0"/>
          </a:p>
          <a:p>
            <a:pPr marL="465750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explore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graph-based</a:t>
            </a:r>
            <a:r>
              <a:rPr lang="de-DE" dirty="0"/>
              <a:t> </a:t>
            </a:r>
            <a:r>
              <a:rPr lang="de-DE" dirty="0" err="1"/>
              <a:t>algorithms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write</a:t>
            </a:r>
            <a:r>
              <a:rPr lang="de-DE" dirty="0"/>
              <a:t> final </a:t>
            </a:r>
            <a:r>
              <a:rPr lang="de-DE" dirty="0" err="1"/>
              <a:t>thesis</a:t>
            </a:r>
            <a:endParaRPr lang="de-DE" dirty="0"/>
          </a:p>
          <a:p>
            <a:endParaRPr lang="de-DE" b="1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34638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518317" y="2636797"/>
            <a:ext cx="11157745" cy="1584408"/>
          </a:xfrm>
        </p:spPr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endParaRPr lang="de-DE" dirty="0"/>
          </a:p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listening</a:t>
            </a:r>
            <a:r>
              <a:rPr lang="de-DE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464207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el 20">
            <a:extLst>
              <a:ext uri="{FF2B5EF4-FFF2-40B4-BE49-F238E27FC236}">
                <a16:creationId xmlns:a16="http://schemas.microsoft.com/office/drawing/2014/main" id="{3018BD05-96D8-43F2-A6AA-CC40E7C32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235100"/>
            <a:ext cx="11157743" cy="387798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Appendix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E7214E1-5D14-4D0B-BADD-2E239FEC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fld id="{38622E95-EE2D-4F19-BA8F-A725A705DEB9}" type="datetime4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t>28. November 2025</a:t>
            </a:fld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A6AD034-0F65-47AF-9CAA-C4B0CEB30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Technische Fakultät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F7E098-F740-40F7-A085-7034627D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3546" y="6634666"/>
            <a:ext cx="62517" cy="123111"/>
          </a:xfrm>
        </p:spPr>
        <p:txBody>
          <a:bodyPr/>
          <a:lstStyle/>
          <a:p>
            <a:fld id="{D949F9DF-37BD-4CD6-BF49-65BA579E1D7A}" type="slidenum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17</a:t>
            </a:fld>
            <a:endParaRPr lang="de-DE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3872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CF6C9E-B323-42B8-BC70-D1B3143A32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fld id="{1086D162-7A4E-4851-A519-26E3B09E1236}" type="datetime4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28. November 2025</a:t>
            </a:fld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C51DC3-4E4D-43E6-B66F-B564F5D39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Technische Fakultät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9AF202-1C22-4B6D-8273-58106059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1029" y="6634666"/>
            <a:ext cx="125034" cy="123111"/>
          </a:xfrm>
        </p:spPr>
        <p:txBody>
          <a:bodyPr/>
          <a:lstStyle/>
          <a:p>
            <a:fld id="{D949F9DF-37BD-4CD6-BF49-65BA579E1D7A}" type="slidenum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18</a:t>
            </a:fld>
            <a:endParaRPr lang="de-DE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2608A24F-B0CA-4AAA-BA84-364AD4B34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Time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taken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in n-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th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iteration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CD6E9304-FDC5-4625-BCAD-B1F488BBCF4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57250"/>
          </a:xfrm>
        </p:spPr>
        <p:txBody>
          <a:bodyPr/>
          <a:lstStyle/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88C69187-67CD-81A5-6BEA-3E044CFCA9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8670861"/>
              </p:ext>
            </p:extLst>
          </p:nvPr>
        </p:nvGraphicFramePr>
        <p:xfrm>
          <a:off x="2618775" y="1500038"/>
          <a:ext cx="6738551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5692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2BDE70CE-CF25-4CE6-B28A-B3871B90A4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fld id="{BB7BB793-D01E-4266-9C88-92A90FF33F7B}" type="datetime4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28. November 2025</a:t>
            </a:fld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95F60E9-1E76-43F3-8365-6C969F9DA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>
                <a:latin typeface="FAUSans Office" panose="020B0504010101010104" pitchFamily="34" charset="77"/>
                <a:cs typeface="FAUSans Office" panose="020B0504010101010104" pitchFamily="34" charset="77"/>
              </a:rPr>
              <a:t>Technische Fakultät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7BC3FCE-392F-4A16-87A0-BDE8D7DF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1029" y="6634666"/>
            <a:ext cx="125034" cy="123111"/>
          </a:xfrm>
        </p:spPr>
        <p:txBody>
          <a:bodyPr/>
          <a:lstStyle/>
          <a:p>
            <a:fld id="{D949F9DF-37BD-4CD6-BF49-65BA579E1D7A}" type="slidenum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19</a:t>
            </a:fld>
            <a:endParaRPr lang="de-DE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FA6ADD3-E70C-46ED-983A-BEFB04690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Penalties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compared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0470CF7-3573-4C68-9AE3-D0473C09311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1884" y="1637255"/>
            <a:ext cx="3569758" cy="511084"/>
          </a:xfrm>
        </p:spPr>
        <p:txBody>
          <a:bodyPr/>
          <a:lstStyle/>
          <a:p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No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penalty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Maximum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quality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: 91.49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833464C-C9BD-494A-94A9-227C3CE7FC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1884" y="3981612"/>
            <a:ext cx="3569758" cy="511084"/>
          </a:xfrm>
        </p:spPr>
        <p:txBody>
          <a:bodyPr/>
          <a:lstStyle/>
          <a:p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Exponential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penalty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Maximum </a:t>
            </a:r>
            <a:r>
              <a:rPr lang="de-DE" dirty="0" err="1"/>
              <a:t>quality</a:t>
            </a:r>
            <a:r>
              <a:rPr lang="de-DE" dirty="0"/>
              <a:t>: 92.42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formula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: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230CCA4F-4FD3-4903-966E-1CAC505F24C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41884" y="2365662"/>
            <a:ext cx="3569758" cy="1209559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Linear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penalty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(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with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factor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Maximum </a:t>
            </a:r>
            <a:r>
              <a:rPr lang="de-DE" dirty="0" err="1"/>
              <a:t>quality</a:t>
            </a:r>
            <a:r>
              <a:rPr lang="de-DE" dirty="0"/>
              <a:t>: 92.07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formula</a:t>
            </a:r>
            <a:r>
              <a:rPr lang="de-DE" dirty="0"/>
              <a:t>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38F69D4-37EF-490A-8363-87A30453BBF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over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 10000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repetitions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, K=24,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Bmax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=30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8F8BB95-4A46-8ABB-52BF-5F90C2BD0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85" y="3165329"/>
            <a:ext cx="2793294" cy="5277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9740164-28E8-68FA-3380-88D7EE46F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82" y="4840882"/>
            <a:ext cx="3723502" cy="50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111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7EB3AC-6569-4142-84A6-00A3DA66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88873" y="6634666"/>
            <a:ext cx="678071" cy="123111"/>
          </a:xfrm>
        </p:spPr>
        <p:txBody>
          <a:bodyPr/>
          <a:lstStyle/>
          <a:p>
            <a:fld id="{499CC872-C2E8-4C73-9CC7-648F3E3EC96E}" type="datetime4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28. November 2025</a:t>
            </a:fld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52479-7EB1-4953-9314-0FDC5957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>
                <a:latin typeface="FAUSans Office" panose="020B0504010101010104" pitchFamily="34" charset="77"/>
                <a:cs typeface="FAUSans Office" panose="020B0504010101010104" pitchFamily="34" charset="77"/>
              </a:rPr>
              <a:t>Technische Fakultät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267688-A6BF-4668-9F1C-C7B77AC8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3546" y="6634666"/>
            <a:ext cx="62517" cy="123111"/>
          </a:xfrm>
        </p:spPr>
        <p:txBody>
          <a:bodyPr/>
          <a:lstStyle/>
          <a:p>
            <a:fld id="{D949F9DF-37BD-4CD6-BF49-65BA579E1D7A}" type="slidenum">
              <a:rPr lang="de-DE" smtClean="0">
                <a:latin typeface="FAUSans Office" panose="020B0504010101010104" pitchFamily="34" charset="77"/>
                <a:cs typeface="FAUSans Office" panose="020B0504010101010104" pitchFamily="34" charset="77"/>
              </a:rPr>
              <a:pPr/>
              <a:t>20</a:t>
            </a:fld>
            <a:endParaRPr lang="de-DE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B28E489-36E7-42B6-94D2-8D55BD2E1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5AB91D-DE2D-4AFF-9067-9AF58F56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MCTS Graph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Visualization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CC25D-26F1-4CE3-A0BD-A2014771D9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7525" y="687388"/>
            <a:ext cx="6845300" cy="257250"/>
          </a:xfrm>
        </p:spPr>
        <p:txBody>
          <a:bodyPr/>
          <a:lstStyle/>
          <a:p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K=5,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Bmax</a:t>
            </a:r>
            <a:r>
              <a:rPr lang="de-DE" dirty="0">
                <a:latin typeface="FAUSans Office" panose="020B0504010101010104" pitchFamily="34" charset="77"/>
                <a:cs typeface="FAUSans Office" panose="020B0504010101010104" pitchFamily="34" charset="77"/>
              </a:rPr>
              <a:t>=30, 50 </a:t>
            </a:r>
            <a:r>
              <a:rPr lang="de-DE" dirty="0" err="1">
                <a:latin typeface="FAUSans Office" panose="020B0504010101010104" pitchFamily="34" charset="77"/>
                <a:cs typeface="FAUSans Office" panose="020B0504010101010104" pitchFamily="34" charset="77"/>
              </a:rPr>
              <a:t>Iterations</a:t>
            </a:r>
            <a:endParaRPr lang="de-DE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4B2A4F1-78AD-FDB5-987E-A62F7E94F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84" y="1504839"/>
            <a:ext cx="5401587" cy="469593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A6FBDC3-8920-FEF0-29E2-1770DEDE4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378" y="1270647"/>
            <a:ext cx="5322542" cy="4741297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BD138126-AFD9-CE95-D4A2-85F52093D6E3}"/>
              </a:ext>
            </a:extLst>
          </p:cNvPr>
          <p:cNvSpPr txBox="1"/>
          <p:nvPr/>
        </p:nvSpPr>
        <p:spPr>
          <a:xfrm>
            <a:off x="609600" y="6120714"/>
            <a:ext cx="4703805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MCTS graph after 30 iterations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526C9F3-5927-EE50-AD44-346F4904EBE1}"/>
              </a:ext>
            </a:extLst>
          </p:cNvPr>
          <p:cNvSpPr txBox="1"/>
          <p:nvPr/>
        </p:nvSpPr>
        <p:spPr>
          <a:xfrm>
            <a:off x="6011187" y="6124463"/>
            <a:ext cx="4703805" cy="249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MCTS graph after 50 iterations</a:t>
            </a:r>
          </a:p>
        </p:txBody>
      </p:sp>
    </p:spTree>
    <p:extLst>
      <p:ext uri="{BB962C8B-B14F-4D97-AF65-F5344CB8AC3E}">
        <p14:creationId xmlns:p14="http://schemas.microsoft.com/office/powerpoint/2010/main" val="4000841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FAU - Technische Fakultät">
  <a:themeElements>
    <a:clrScheme name="FAU - Grau">
      <a:dk1>
        <a:sysClr val="windowText" lastClr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1074</Words>
  <Application>Microsoft Office PowerPoint</Application>
  <PresentationFormat>Breitbild</PresentationFormat>
  <Paragraphs>269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20</vt:i4>
      </vt:variant>
    </vt:vector>
  </HeadingPairs>
  <TitlesOfParts>
    <vt:vector size="30" baseType="lpstr">
      <vt:lpstr>Aptos</vt:lpstr>
      <vt:lpstr>Aptos Display</vt:lpstr>
      <vt:lpstr>Arial</vt:lpstr>
      <vt:lpstr>Cambria</vt:lpstr>
      <vt:lpstr>Courier New</vt:lpstr>
      <vt:lpstr>FAUSans Office</vt:lpstr>
      <vt:lpstr>Symbol</vt:lpstr>
      <vt:lpstr>Wingdings</vt:lpstr>
      <vt:lpstr>Office</vt:lpstr>
      <vt:lpstr>FAU - Technische Fakultät</vt:lpstr>
      <vt:lpstr>Graph-Based Energy Budget Computation  in Wireless Sensor Networks </vt:lpstr>
      <vt:lpstr>Problem Description</vt:lpstr>
      <vt:lpstr>Problem Description</vt:lpstr>
      <vt:lpstr>Problem Description</vt:lpstr>
      <vt:lpstr>Problem Description</vt:lpstr>
      <vt:lpstr>Research Questions</vt:lpstr>
      <vt:lpstr>Graph Model</vt:lpstr>
      <vt:lpstr>Graph Model</vt:lpstr>
      <vt:lpstr>Graph Model</vt:lpstr>
      <vt:lpstr>Monte Carlo Tree Search (MCTS)</vt:lpstr>
      <vt:lpstr>Monte Carlo Tree Search (MCTS)</vt:lpstr>
      <vt:lpstr>Simulation Results</vt:lpstr>
      <vt:lpstr>Simulation Results</vt:lpstr>
      <vt:lpstr>Occuring Problems</vt:lpstr>
      <vt:lpstr>Completed Tasks &amp; Next Steps</vt:lpstr>
      <vt:lpstr>PowerPoint-Präsentation</vt:lpstr>
      <vt:lpstr>Appendix</vt:lpstr>
      <vt:lpstr>Time taken in n-th iteration</vt:lpstr>
      <vt:lpstr>Penalties compared</vt:lpstr>
      <vt:lpstr>MCTS Graph 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Roman Riazanоv</dc:creator>
  <cp:lastModifiedBy>Roman Riazanоv</cp:lastModifiedBy>
  <cp:revision>47</cp:revision>
  <dcterms:created xsi:type="dcterms:W3CDTF">2025-11-15T09:32:53Z</dcterms:created>
  <dcterms:modified xsi:type="dcterms:W3CDTF">2025-11-28T11:25:28Z</dcterms:modified>
</cp:coreProperties>
</file>